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43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369E30-EB93-48AE-B841-95C52E4833C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1531461-CA0D-4653-9D03-FD7139BEB07A}">
      <dgm:prSet phldrT="[Text]" phldr="0"/>
      <dgm:spPr>
        <a:solidFill>
          <a:srgbClr val="002060"/>
        </a:solidFill>
      </dgm:spPr>
      <dgm:t>
        <a:bodyPr/>
        <a:lstStyle/>
        <a:p>
          <a:r>
            <a:rPr lang="en-IN" dirty="0"/>
            <a:t>Raw Dataset</a:t>
          </a:r>
        </a:p>
      </dgm:t>
    </dgm:pt>
    <dgm:pt modelId="{40138A23-C55E-4C3C-BB67-418DC36106A7}" type="parTrans" cxnId="{E9FA0704-8381-4819-94AD-1030734B6F28}">
      <dgm:prSet/>
      <dgm:spPr/>
      <dgm:t>
        <a:bodyPr/>
        <a:lstStyle/>
        <a:p>
          <a:endParaRPr lang="en-IN"/>
        </a:p>
      </dgm:t>
    </dgm:pt>
    <dgm:pt modelId="{921BA35C-0A26-4C0E-9B55-1E9A8C901761}" type="sibTrans" cxnId="{E9FA0704-8381-4819-94AD-1030734B6F28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endParaRPr lang="en-IN"/>
        </a:p>
      </dgm:t>
    </dgm:pt>
    <dgm:pt modelId="{09409838-6010-455D-A7A7-FB0069E21390}">
      <dgm:prSet phldrT="[Text]" phldr="0"/>
      <dgm:spPr>
        <a:solidFill>
          <a:srgbClr val="002060"/>
        </a:solidFill>
      </dgm:spPr>
      <dgm:t>
        <a:bodyPr/>
        <a:lstStyle/>
        <a:p>
          <a:r>
            <a:rPr lang="en-IN" dirty="0"/>
            <a:t>Data Loading</a:t>
          </a:r>
        </a:p>
      </dgm:t>
    </dgm:pt>
    <dgm:pt modelId="{0B8B930E-A947-493E-80C1-5D04864E78BF}" type="parTrans" cxnId="{5AB93437-FCDE-468C-A57B-E66C2B9177E3}">
      <dgm:prSet/>
      <dgm:spPr/>
      <dgm:t>
        <a:bodyPr/>
        <a:lstStyle/>
        <a:p>
          <a:endParaRPr lang="en-IN"/>
        </a:p>
      </dgm:t>
    </dgm:pt>
    <dgm:pt modelId="{C95BFF31-9FF4-4015-8AAF-BA7DC819E8B4}" type="sibTrans" cxnId="{5AB93437-FCDE-468C-A57B-E66C2B9177E3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endParaRPr lang="en-IN"/>
        </a:p>
      </dgm:t>
    </dgm:pt>
    <dgm:pt modelId="{281E8FDE-90CE-4AD3-BEC1-B2C2249DB370}">
      <dgm:prSet phldrT="[Text]" phldr="0"/>
      <dgm:spPr>
        <a:solidFill>
          <a:srgbClr val="002060"/>
        </a:solidFill>
      </dgm:spPr>
      <dgm:t>
        <a:bodyPr/>
        <a:lstStyle/>
        <a:p>
          <a:r>
            <a:rPr lang="en-IN" dirty="0"/>
            <a:t>Missing Value check</a:t>
          </a:r>
        </a:p>
      </dgm:t>
    </dgm:pt>
    <dgm:pt modelId="{03A08011-B687-4299-A4D0-78F19B0559AB}" type="parTrans" cxnId="{0B59C22C-CE40-436A-A42F-B820C8AF65A0}">
      <dgm:prSet/>
      <dgm:spPr/>
      <dgm:t>
        <a:bodyPr/>
        <a:lstStyle/>
        <a:p>
          <a:endParaRPr lang="en-IN"/>
        </a:p>
      </dgm:t>
    </dgm:pt>
    <dgm:pt modelId="{06AE0102-EE86-4F1D-A3B2-D4503048C431}" type="sibTrans" cxnId="{0B59C22C-CE40-436A-A42F-B820C8AF65A0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endParaRPr lang="en-IN"/>
        </a:p>
      </dgm:t>
    </dgm:pt>
    <dgm:pt modelId="{609246D6-CD37-4B34-AE94-19627DC362B6}">
      <dgm:prSet phldrT="[Text]" phldr="0"/>
      <dgm:spPr>
        <a:solidFill>
          <a:srgbClr val="002060"/>
        </a:solidFill>
      </dgm:spPr>
      <dgm:t>
        <a:bodyPr/>
        <a:lstStyle/>
        <a:p>
          <a:r>
            <a:rPr lang="en-IN" dirty="0"/>
            <a:t>Duplicate Removal</a:t>
          </a:r>
        </a:p>
      </dgm:t>
    </dgm:pt>
    <dgm:pt modelId="{4022E0E5-830F-4EC0-8C40-475ECBA57F6A}" type="parTrans" cxnId="{2DC5F010-7D2A-48E9-A9F0-0AB83FB62376}">
      <dgm:prSet/>
      <dgm:spPr/>
      <dgm:t>
        <a:bodyPr/>
        <a:lstStyle/>
        <a:p>
          <a:endParaRPr lang="en-IN"/>
        </a:p>
      </dgm:t>
    </dgm:pt>
    <dgm:pt modelId="{E9000724-BB4F-4520-9383-F06771F83A3A}" type="sibTrans" cxnId="{2DC5F010-7D2A-48E9-A9F0-0AB83FB62376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endParaRPr lang="en-IN"/>
        </a:p>
      </dgm:t>
    </dgm:pt>
    <dgm:pt modelId="{07F7A961-314D-446B-996E-497C4E92D533}">
      <dgm:prSet phldrT="[Text]" phldr="0"/>
      <dgm:spPr>
        <a:solidFill>
          <a:srgbClr val="002060"/>
        </a:solidFill>
      </dgm:spPr>
      <dgm:t>
        <a:bodyPr/>
        <a:lstStyle/>
        <a:p>
          <a:r>
            <a:rPr lang="en-IN" dirty="0"/>
            <a:t>Data cleaning</a:t>
          </a:r>
        </a:p>
      </dgm:t>
    </dgm:pt>
    <dgm:pt modelId="{2DC68578-5D95-487D-9F3B-E45779AA078C}" type="parTrans" cxnId="{D930DA4C-2FFA-48E9-A989-9CAE95B9D93F}">
      <dgm:prSet/>
      <dgm:spPr/>
      <dgm:t>
        <a:bodyPr/>
        <a:lstStyle/>
        <a:p>
          <a:endParaRPr lang="en-IN"/>
        </a:p>
      </dgm:t>
    </dgm:pt>
    <dgm:pt modelId="{4448D527-DEF6-4681-B785-78E11E66DEB7}" type="sibTrans" cxnId="{D930DA4C-2FFA-48E9-A989-9CAE95B9D93F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endParaRPr lang="en-IN"/>
        </a:p>
      </dgm:t>
    </dgm:pt>
    <dgm:pt modelId="{0620DBFC-0D10-4401-BC9A-5322093008D6}">
      <dgm:prSet phldrT="[Text]" phldr="0"/>
      <dgm:spPr>
        <a:solidFill>
          <a:srgbClr val="002060"/>
        </a:solidFill>
      </dgm:spPr>
      <dgm:t>
        <a:bodyPr/>
        <a:lstStyle/>
        <a:p>
          <a:r>
            <a:rPr lang="en-IN" dirty="0"/>
            <a:t>Cleaned Dataset</a:t>
          </a:r>
        </a:p>
      </dgm:t>
    </dgm:pt>
    <dgm:pt modelId="{935E9E4B-6C29-41F5-84DC-B052E50FB7A7}" type="parTrans" cxnId="{D786B8F5-31C6-4E51-AFD3-51AE08B3AEDF}">
      <dgm:prSet/>
      <dgm:spPr/>
      <dgm:t>
        <a:bodyPr/>
        <a:lstStyle/>
        <a:p>
          <a:endParaRPr lang="en-IN"/>
        </a:p>
      </dgm:t>
    </dgm:pt>
    <dgm:pt modelId="{D199347D-C8D7-4B29-9C8E-E89071DE782C}" type="sibTrans" cxnId="{D786B8F5-31C6-4E51-AFD3-51AE08B3AEDF}">
      <dgm:prSet/>
      <dgm:spPr/>
      <dgm:t>
        <a:bodyPr/>
        <a:lstStyle/>
        <a:p>
          <a:endParaRPr lang="en-IN"/>
        </a:p>
      </dgm:t>
    </dgm:pt>
    <dgm:pt modelId="{8FEEF7ED-B957-4786-8D3F-FC996366FC91}" type="pres">
      <dgm:prSet presAssocID="{70369E30-EB93-48AE-B841-95C52E4833C3}" presName="Name0" presStyleCnt="0">
        <dgm:presLayoutVars>
          <dgm:dir/>
          <dgm:resizeHandles val="exact"/>
        </dgm:presLayoutVars>
      </dgm:prSet>
      <dgm:spPr/>
    </dgm:pt>
    <dgm:pt modelId="{9C9EFA0A-E8C1-4995-8FB6-F1A1BE042BAC}" type="pres">
      <dgm:prSet presAssocID="{41531461-CA0D-4653-9D03-FD7139BEB07A}" presName="node" presStyleLbl="node1" presStyleIdx="0" presStyleCnt="6" custScaleX="103902" custScaleY="91022">
        <dgm:presLayoutVars>
          <dgm:bulletEnabled val="1"/>
        </dgm:presLayoutVars>
      </dgm:prSet>
      <dgm:spPr/>
    </dgm:pt>
    <dgm:pt modelId="{8BDB9438-1B43-40D7-B2B1-6E2B0504BC0A}" type="pres">
      <dgm:prSet presAssocID="{921BA35C-0A26-4C0E-9B55-1E9A8C901761}" presName="sibTrans" presStyleLbl="sibTrans2D1" presStyleIdx="0" presStyleCnt="5"/>
      <dgm:spPr/>
    </dgm:pt>
    <dgm:pt modelId="{BE791C2A-B089-4E1C-82B4-3F8B1D28B0F4}" type="pres">
      <dgm:prSet presAssocID="{921BA35C-0A26-4C0E-9B55-1E9A8C901761}" presName="connectorText" presStyleLbl="sibTrans2D1" presStyleIdx="0" presStyleCnt="5"/>
      <dgm:spPr/>
    </dgm:pt>
    <dgm:pt modelId="{63401CDF-C503-4783-96D8-3CE5DE170310}" type="pres">
      <dgm:prSet presAssocID="{09409838-6010-455D-A7A7-FB0069E21390}" presName="node" presStyleLbl="node1" presStyleIdx="1" presStyleCnt="6">
        <dgm:presLayoutVars>
          <dgm:bulletEnabled val="1"/>
        </dgm:presLayoutVars>
      </dgm:prSet>
      <dgm:spPr/>
    </dgm:pt>
    <dgm:pt modelId="{6ED4504B-C73C-4EF4-8246-2DC70D76284D}" type="pres">
      <dgm:prSet presAssocID="{C95BFF31-9FF4-4015-8AAF-BA7DC819E8B4}" presName="sibTrans" presStyleLbl="sibTrans2D1" presStyleIdx="1" presStyleCnt="5"/>
      <dgm:spPr/>
    </dgm:pt>
    <dgm:pt modelId="{55F9F55D-213A-4CB1-903D-5AE26699EB40}" type="pres">
      <dgm:prSet presAssocID="{C95BFF31-9FF4-4015-8AAF-BA7DC819E8B4}" presName="connectorText" presStyleLbl="sibTrans2D1" presStyleIdx="1" presStyleCnt="5"/>
      <dgm:spPr/>
    </dgm:pt>
    <dgm:pt modelId="{C1F02C5B-FF20-47F2-B917-D79C256282AF}" type="pres">
      <dgm:prSet presAssocID="{281E8FDE-90CE-4AD3-BEC1-B2C2249DB370}" presName="node" presStyleLbl="node1" presStyleIdx="2" presStyleCnt="6">
        <dgm:presLayoutVars>
          <dgm:bulletEnabled val="1"/>
        </dgm:presLayoutVars>
      </dgm:prSet>
      <dgm:spPr/>
    </dgm:pt>
    <dgm:pt modelId="{5F450DE6-184C-4C69-8EB7-18D48422764E}" type="pres">
      <dgm:prSet presAssocID="{06AE0102-EE86-4F1D-A3B2-D4503048C431}" presName="sibTrans" presStyleLbl="sibTrans2D1" presStyleIdx="2" presStyleCnt="5"/>
      <dgm:spPr/>
    </dgm:pt>
    <dgm:pt modelId="{494ABE0D-BA00-4C2D-B8A9-0ABCAD0ECA18}" type="pres">
      <dgm:prSet presAssocID="{06AE0102-EE86-4F1D-A3B2-D4503048C431}" presName="connectorText" presStyleLbl="sibTrans2D1" presStyleIdx="2" presStyleCnt="5"/>
      <dgm:spPr/>
    </dgm:pt>
    <dgm:pt modelId="{8F1C0783-2467-4477-85E5-16B5EDBFB19A}" type="pres">
      <dgm:prSet presAssocID="{609246D6-CD37-4B34-AE94-19627DC362B6}" presName="node" presStyleLbl="node1" presStyleIdx="3" presStyleCnt="6">
        <dgm:presLayoutVars>
          <dgm:bulletEnabled val="1"/>
        </dgm:presLayoutVars>
      </dgm:prSet>
      <dgm:spPr/>
    </dgm:pt>
    <dgm:pt modelId="{43ADE34F-2517-411E-89E5-D9E96C8CCB27}" type="pres">
      <dgm:prSet presAssocID="{E9000724-BB4F-4520-9383-F06771F83A3A}" presName="sibTrans" presStyleLbl="sibTrans2D1" presStyleIdx="3" presStyleCnt="5"/>
      <dgm:spPr/>
    </dgm:pt>
    <dgm:pt modelId="{AF4F7BF1-46CD-4C37-8E46-8A7E28E8082D}" type="pres">
      <dgm:prSet presAssocID="{E9000724-BB4F-4520-9383-F06771F83A3A}" presName="connectorText" presStyleLbl="sibTrans2D1" presStyleIdx="3" presStyleCnt="5"/>
      <dgm:spPr/>
    </dgm:pt>
    <dgm:pt modelId="{38E1E331-3BA9-4FEA-84C0-33F9C25643F9}" type="pres">
      <dgm:prSet presAssocID="{07F7A961-314D-446B-996E-497C4E92D533}" presName="node" presStyleLbl="node1" presStyleIdx="4" presStyleCnt="6">
        <dgm:presLayoutVars>
          <dgm:bulletEnabled val="1"/>
        </dgm:presLayoutVars>
      </dgm:prSet>
      <dgm:spPr/>
    </dgm:pt>
    <dgm:pt modelId="{20E0D830-E889-4989-8975-21F750E846FD}" type="pres">
      <dgm:prSet presAssocID="{4448D527-DEF6-4681-B785-78E11E66DEB7}" presName="sibTrans" presStyleLbl="sibTrans2D1" presStyleIdx="4" presStyleCnt="5"/>
      <dgm:spPr/>
    </dgm:pt>
    <dgm:pt modelId="{EAB7C275-B71E-4823-80B5-73C4B11E9FA6}" type="pres">
      <dgm:prSet presAssocID="{4448D527-DEF6-4681-B785-78E11E66DEB7}" presName="connectorText" presStyleLbl="sibTrans2D1" presStyleIdx="4" presStyleCnt="5"/>
      <dgm:spPr/>
    </dgm:pt>
    <dgm:pt modelId="{65E99851-2408-4C72-9A41-09761D836E86}" type="pres">
      <dgm:prSet presAssocID="{0620DBFC-0D10-4401-BC9A-5322093008D6}" presName="node" presStyleLbl="node1" presStyleIdx="5" presStyleCnt="6">
        <dgm:presLayoutVars>
          <dgm:bulletEnabled val="1"/>
        </dgm:presLayoutVars>
      </dgm:prSet>
      <dgm:spPr/>
    </dgm:pt>
  </dgm:ptLst>
  <dgm:cxnLst>
    <dgm:cxn modelId="{726DC803-B136-4F8C-B9FB-9B14DA80F0EC}" type="presOf" srcId="{C95BFF31-9FF4-4015-8AAF-BA7DC819E8B4}" destId="{55F9F55D-213A-4CB1-903D-5AE26699EB40}" srcOrd="1" destOrd="0" presId="urn:microsoft.com/office/officeart/2005/8/layout/process1"/>
    <dgm:cxn modelId="{E9FA0704-8381-4819-94AD-1030734B6F28}" srcId="{70369E30-EB93-48AE-B841-95C52E4833C3}" destId="{41531461-CA0D-4653-9D03-FD7139BEB07A}" srcOrd="0" destOrd="0" parTransId="{40138A23-C55E-4C3C-BB67-418DC36106A7}" sibTransId="{921BA35C-0A26-4C0E-9B55-1E9A8C901761}"/>
    <dgm:cxn modelId="{2DC5F010-7D2A-48E9-A9F0-0AB83FB62376}" srcId="{70369E30-EB93-48AE-B841-95C52E4833C3}" destId="{609246D6-CD37-4B34-AE94-19627DC362B6}" srcOrd="3" destOrd="0" parTransId="{4022E0E5-830F-4EC0-8C40-475ECBA57F6A}" sibTransId="{E9000724-BB4F-4520-9383-F06771F83A3A}"/>
    <dgm:cxn modelId="{26F5E626-A704-40EE-A26A-CEF231A64BE8}" type="presOf" srcId="{09409838-6010-455D-A7A7-FB0069E21390}" destId="{63401CDF-C503-4783-96D8-3CE5DE170310}" srcOrd="0" destOrd="0" presId="urn:microsoft.com/office/officeart/2005/8/layout/process1"/>
    <dgm:cxn modelId="{C217D32B-B817-4773-B5BA-FA5BB2D35011}" type="presOf" srcId="{921BA35C-0A26-4C0E-9B55-1E9A8C901761}" destId="{8BDB9438-1B43-40D7-B2B1-6E2B0504BC0A}" srcOrd="0" destOrd="0" presId="urn:microsoft.com/office/officeart/2005/8/layout/process1"/>
    <dgm:cxn modelId="{0B59C22C-CE40-436A-A42F-B820C8AF65A0}" srcId="{70369E30-EB93-48AE-B841-95C52E4833C3}" destId="{281E8FDE-90CE-4AD3-BEC1-B2C2249DB370}" srcOrd="2" destOrd="0" parTransId="{03A08011-B687-4299-A4D0-78F19B0559AB}" sibTransId="{06AE0102-EE86-4F1D-A3B2-D4503048C431}"/>
    <dgm:cxn modelId="{5AB93437-FCDE-468C-A57B-E66C2B9177E3}" srcId="{70369E30-EB93-48AE-B841-95C52E4833C3}" destId="{09409838-6010-455D-A7A7-FB0069E21390}" srcOrd="1" destOrd="0" parTransId="{0B8B930E-A947-493E-80C1-5D04864E78BF}" sibTransId="{C95BFF31-9FF4-4015-8AAF-BA7DC819E8B4}"/>
    <dgm:cxn modelId="{FD0D333E-8A27-41D7-9280-08BFBF9F01B8}" type="presOf" srcId="{06AE0102-EE86-4F1D-A3B2-D4503048C431}" destId="{494ABE0D-BA00-4C2D-B8A9-0ABCAD0ECA18}" srcOrd="1" destOrd="0" presId="urn:microsoft.com/office/officeart/2005/8/layout/process1"/>
    <dgm:cxn modelId="{C30B8A5C-5B96-4B40-8A64-EB54C347B528}" type="presOf" srcId="{70369E30-EB93-48AE-B841-95C52E4833C3}" destId="{8FEEF7ED-B957-4786-8D3F-FC996366FC91}" srcOrd="0" destOrd="0" presId="urn:microsoft.com/office/officeart/2005/8/layout/process1"/>
    <dgm:cxn modelId="{D930DA4C-2FFA-48E9-A989-9CAE95B9D93F}" srcId="{70369E30-EB93-48AE-B841-95C52E4833C3}" destId="{07F7A961-314D-446B-996E-497C4E92D533}" srcOrd="4" destOrd="0" parTransId="{2DC68578-5D95-487D-9F3B-E45779AA078C}" sibTransId="{4448D527-DEF6-4681-B785-78E11E66DEB7}"/>
    <dgm:cxn modelId="{0A28D37D-4229-4D5A-9865-AD9A155B6BB8}" type="presOf" srcId="{0620DBFC-0D10-4401-BC9A-5322093008D6}" destId="{65E99851-2408-4C72-9A41-09761D836E86}" srcOrd="0" destOrd="0" presId="urn:microsoft.com/office/officeart/2005/8/layout/process1"/>
    <dgm:cxn modelId="{6F614F83-1433-49EC-9E24-FDE55E543EB3}" type="presOf" srcId="{4448D527-DEF6-4681-B785-78E11E66DEB7}" destId="{20E0D830-E889-4989-8975-21F750E846FD}" srcOrd="0" destOrd="0" presId="urn:microsoft.com/office/officeart/2005/8/layout/process1"/>
    <dgm:cxn modelId="{E137978E-5BAC-4653-BDA4-CFD65AD3C91B}" type="presOf" srcId="{4448D527-DEF6-4681-B785-78E11E66DEB7}" destId="{EAB7C275-B71E-4823-80B5-73C4B11E9FA6}" srcOrd="1" destOrd="0" presId="urn:microsoft.com/office/officeart/2005/8/layout/process1"/>
    <dgm:cxn modelId="{663931A2-F3F0-4896-86B7-BE5F035B9261}" type="presOf" srcId="{609246D6-CD37-4B34-AE94-19627DC362B6}" destId="{8F1C0783-2467-4477-85E5-16B5EDBFB19A}" srcOrd="0" destOrd="0" presId="urn:microsoft.com/office/officeart/2005/8/layout/process1"/>
    <dgm:cxn modelId="{483119AF-6A72-4056-9E60-6D2B428838B8}" type="presOf" srcId="{07F7A961-314D-446B-996E-497C4E92D533}" destId="{38E1E331-3BA9-4FEA-84C0-33F9C25643F9}" srcOrd="0" destOrd="0" presId="urn:microsoft.com/office/officeart/2005/8/layout/process1"/>
    <dgm:cxn modelId="{57C483B0-CDAF-4EE6-8E91-14D48C0263B9}" type="presOf" srcId="{E9000724-BB4F-4520-9383-F06771F83A3A}" destId="{AF4F7BF1-46CD-4C37-8E46-8A7E28E8082D}" srcOrd="1" destOrd="0" presId="urn:microsoft.com/office/officeart/2005/8/layout/process1"/>
    <dgm:cxn modelId="{43904BBB-1608-48A6-A7CB-BA1531F9B851}" type="presOf" srcId="{921BA35C-0A26-4C0E-9B55-1E9A8C901761}" destId="{BE791C2A-B089-4E1C-82B4-3F8B1D28B0F4}" srcOrd="1" destOrd="0" presId="urn:microsoft.com/office/officeart/2005/8/layout/process1"/>
    <dgm:cxn modelId="{C99662C8-62C8-4B16-9FB0-D6D3D6521A19}" type="presOf" srcId="{41531461-CA0D-4653-9D03-FD7139BEB07A}" destId="{9C9EFA0A-E8C1-4995-8FB6-F1A1BE042BAC}" srcOrd="0" destOrd="0" presId="urn:microsoft.com/office/officeart/2005/8/layout/process1"/>
    <dgm:cxn modelId="{0A530ACE-B566-47BB-840A-6B222E7A7D27}" type="presOf" srcId="{06AE0102-EE86-4F1D-A3B2-D4503048C431}" destId="{5F450DE6-184C-4C69-8EB7-18D48422764E}" srcOrd="0" destOrd="0" presId="urn:microsoft.com/office/officeart/2005/8/layout/process1"/>
    <dgm:cxn modelId="{8E66CACE-684F-444F-A821-3A729CDA9350}" type="presOf" srcId="{281E8FDE-90CE-4AD3-BEC1-B2C2249DB370}" destId="{C1F02C5B-FF20-47F2-B917-D79C256282AF}" srcOrd="0" destOrd="0" presId="urn:microsoft.com/office/officeart/2005/8/layout/process1"/>
    <dgm:cxn modelId="{CDDE6CE0-B585-484D-807F-C0AB9B1AD389}" type="presOf" srcId="{C95BFF31-9FF4-4015-8AAF-BA7DC819E8B4}" destId="{6ED4504B-C73C-4EF4-8246-2DC70D76284D}" srcOrd="0" destOrd="0" presId="urn:microsoft.com/office/officeart/2005/8/layout/process1"/>
    <dgm:cxn modelId="{C20E62F0-91C3-4C80-84A8-A64142E62C97}" type="presOf" srcId="{E9000724-BB4F-4520-9383-F06771F83A3A}" destId="{43ADE34F-2517-411E-89E5-D9E96C8CCB27}" srcOrd="0" destOrd="0" presId="urn:microsoft.com/office/officeart/2005/8/layout/process1"/>
    <dgm:cxn modelId="{D786B8F5-31C6-4E51-AFD3-51AE08B3AEDF}" srcId="{70369E30-EB93-48AE-B841-95C52E4833C3}" destId="{0620DBFC-0D10-4401-BC9A-5322093008D6}" srcOrd="5" destOrd="0" parTransId="{935E9E4B-6C29-41F5-84DC-B052E50FB7A7}" sibTransId="{D199347D-C8D7-4B29-9C8E-E89071DE782C}"/>
    <dgm:cxn modelId="{D23FB435-7373-46FA-8959-FFB20ECDFD8B}" type="presParOf" srcId="{8FEEF7ED-B957-4786-8D3F-FC996366FC91}" destId="{9C9EFA0A-E8C1-4995-8FB6-F1A1BE042BAC}" srcOrd="0" destOrd="0" presId="urn:microsoft.com/office/officeart/2005/8/layout/process1"/>
    <dgm:cxn modelId="{CDAE567E-0034-484D-B46E-C79E241BCB07}" type="presParOf" srcId="{8FEEF7ED-B957-4786-8D3F-FC996366FC91}" destId="{8BDB9438-1B43-40D7-B2B1-6E2B0504BC0A}" srcOrd="1" destOrd="0" presId="urn:microsoft.com/office/officeart/2005/8/layout/process1"/>
    <dgm:cxn modelId="{717D466E-F765-48A2-899E-3F029D518C93}" type="presParOf" srcId="{8BDB9438-1B43-40D7-B2B1-6E2B0504BC0A}" destId="{BE791C2A-B089-4E1C-82B4-3F8B1D28B0F4}" srcOrd="0" destOrd="0" presId="urn:microsoft.com/office/officeart/2005/8/layout/process1"/>
    <dgm:cxn modelId="{3AFAF154-F49E-44D1-91C4-3F1B5BA809E2}" type="presParOf" srcId="{8FEEF7ED-B957-4786-8D3F-FC996366FC91}" destId="{63401CDF-C503-4783-96D8-3CE5DE170310}" srcOrd="2" destOrd="0" presId="urn:microsoft.com/office/officeart/2005/8/layout/process1"/>
    <dgm:cxn modelId="{E58FBB3D-C706-421C-97D6-22AA2DBB92E5}" type="presParOf" srcId="{8FEEF7ED-B957-4786-8D3F-FC996366FC91}" destId="{6ED4504B-C73C-4EF4-8246-2DC70D76284D}" srcOrd="3" destOrd="0" presId="urn:microsoft.com/office/officeart/2005/8/layout/process1"/>
    <dgm:cxn modelId="{88004C1F-2C77-4538-BED8-B2BD254B0218}" type="presParOf" srcId="{6ED4504B-C73C-4EF4-8246-2DC70D76284D}" destId="{55F9F55D-213A-4CB1-903D-5AE26699EB40}" srcOrd="0" destOrd="0" presId="urn:microsoft.com/office/officeart/2005/8/layout/process1"/>
    <dgm:cxn modelId="{6B9DC313-C8E2-4097-B734-663B99316F67}" type="presParOf" srcId="{8FEEF7ED-B957-4786-8D3F-FC996366FC91}" destId="{C1F02C5B-FF20-47F2-B917-D79C256282AF}" srcOrd="4" destOrd="0" presId="urn:microsoft.com/office/officeart/2005/8/layout/process1"/>
    <dgm:cxn modelId="{00A7834F-9F04-4D79-BB9E-D8CDF3F746AB}" type="presParOf" srcId="{8FEEF7ED-B957-4786-8D3F-FC996366FC91}" destId="{5F450DE6-184C-4C69-8EB7-18D48422764E}" srcOrd="5" destOrd="0" presId="urn:microsoft.com/office/officeart/2005/8/layout/process1"/>
    <dgm:cxn modelId="{2689D2D7-0764-4633-8437-4C50ED4B9331}" type="presParOf" srcId="{5F450DE6-184C-4C69-8EB7-18D48422764E}" destId="{494ABE0D-BA00-4C2D-B8A9-0ABCAD0ECA18}" srcOrd="0" destOrd="0" presId="urn:microsoft.com/office/officeart/2005/8/layout/process1"/>
    <dgm:cxn modelId="{03F19279-60DD-4FA9-98D1-A3B6975018A1}" type="presParOf" srcId="{8FEEF7ED-B957-4786-8D3F-FC996366FC91}" destId="{8F1C0783-2467-4477-85E5-16B5EDBFB19A}" srcOrd="6" destOrd="0" presId="urn:microsoft.com/office/officeart/2005/8/layout/process1"/>
    <dgm:cxn modelId="{6132B84E-5A57-4CB1-9800-824EF0A9DEF4}" type="presParOf" srcId="{8FEEF7ED-B957-4786-8D3F-FC996366FC91}" destId="{43ADE34F-2517-411E-89E5-D9E96C8CCB27}" srcOrd="7" destOrd="0" presId="urn:microsoft.com/office/officeart/2005/8/layout/process1"/>
    <dgm:cxn modelId="{0CCB14F1-3AFA-4240-9962-8493D769189E}" type="presParOf" srcId="{43ADE34F-2517-411E-89E5-D9E96C8CCB27}" destId="{AF4F7BF1-46CD-4C37-8E46-8A7E28E8082D}" srcOrd="0" destOrd="0" presId="urn:microsoft.com/office/officeart/2005/8/layout/process1"/>
    <dgm:cxn modelId="{FF8EE596-861C-4066-B10D-BE0BF0A7F69C}" type="presParOf" srcId="{8FEEF7ED-B957-4786-8D3F-FC996366FC91}" destId="{38E1E331-3BA9-4FEA-84C0-33F9C25643F9}" srcOrd="8" destOrd="0" presId="urn:microsoft.com/office/officeart/2005/8/layout/process1"/>
    <dgm:cxn modelId="{561B0800-1A4D-47BB-95E3-C4341D0F1015}" type="presParOf" srcId="{8FEEF7ED-B957-4786-8D3F-FC996366FC91}" destId="{20E0D830-E889-4989-8975-21F750E846FD}" srcOrd="9" destOrd="0" presId="urn:microsoft.com/office/officeart/2005/8/layout/process1"/>
    <dgm:cxn modelId="{86C4D63F-9F5D-4EB3-9588-B9219B108688}" type="presParOf" srcId="{20E0D830-E889-4989-8975-21F750E846FD}" destId="{EAB7C275-B71E-4823-80B5-73C4B11E9FA6}" srcOrd="0" destOrd="0" presId="urn:microsoft.com/office/officeart/2005/8/layout/process1"/>
    <dgm:cxn modelId="{40CBEC07-2232-4621-89DE-308256B1AB5B}" type="presParOf" srcId="{8FEEF7ED-B957-4786-8D3F-FC996366FC91}" destId="{65E99851-2408-4C72-9A41-09761D836E86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2DAE4A-8685-4034-83DC-61784AD3FCAA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042F63D-AABB-48EE-B5F1-21B95DF13AFB}">
      <dgm:prSet phldrT="[Text]" phldr="0"/>
      <dgm:spPr/>
      <dgm:t>
        <a:bodyPr/>
        <a:lstStyle/>
        <a:p>
          <a:r>
            <a:rPr lang="en-IN" dirty="0"/>
            <a:t>AL/ML</a:t>
          </a:r>
        </a:p>
      </dgm:t>
    </dgm:pt>
    <dgm:pt modelId="{51F77C08-C163-40DB-A8AB-0731141C4C26}" type="parTrans" cxnId="{EE24434F-2B26-4FE2-989B-64583330641D}">
      <dgm:prSet/>
      <dgm:spPr/>
      <dgm:t>
        <a:bodyPr/>
        <a:lstStyle/>
        <a:p>
          <a:endParaRPr lang="en-IN"/>
        </a:p>
      </dgm:t>
    </dgm:pt>
    <dgm:pt modelId="{20910B1B-1F1D-4A02-8D13-A5634748FA05}" type="sibTrans" cxnId="{EE24434F-2B26-4FE2-989B-64583330641D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000" r="-44000"/>
          </a:stretch>
        </a:blipFill>
      </dgm:spPr>
      <dgm:t>
        <a:bodyPr/>
        <a:lstStyle/>
        <a:p>
          <a:endParaRPr lang="en-IN"/>
        </a:p>
      </dgm:t>
    </dgm:pt>
    <dgm:pt modelId="{299F2557-7CEA-4DA9-B308-EAE5EE40374E}" type="pres">
      <dgm:prSet presAssocID="{522DAE4A-8685-4034-83DC-61784AD3FCAA}" presName="Name0" presStyleCnt="0">
        <dgm:presLayoutVars>
          <dgm:chMax val="7"/>
          <dgm:chPref val="7"/>
          <dgm:dir/>
        </dgm:presLayoutVars>
      </dgm:prSet>
      <dgm:spPr/>
    </dgm:pt>
    <dgm:pt modelId="{DCDDD71D-8F85-4DEB-A449-E2B999139228}" type="pres">
      <dgm:prSet presAssocID="{522DAE4A-8685-4034-83DC-61784AD3FCAA}" presName="Name1" presStyleCnt="0"/>
      <dgm:spPr/>
    </dgm:pt>
    <dgm:pt modelId="{3B4556D0-597B-44E8-ACE9-D0F9211A5E26}" type="pres">
      <dgm:prSet presAssocID="{20910B1B-1F1D-4A02-8D13-A5634748FA05}" presName="picture_1" presStyleCnt="0"/>
      <dgm:spPr/>
    </dgm:pt>
    <dgm:pt modelId="{ACA67E1E-A017-49B5-B21F-1196C6F7C80F}" type="pres">
      <dgm:prSet presAssocID="{20910B1B-1F1D-4A02-8D13-A5634748FA05}" presName="pictureRepeatNode" presStyleLbl="alignImgPlace1" presStyleIdx="0" presStyleCnt="1" custScaleX="200000" custScaleY="122891" custLinFactNeighborX="-24731" custLinFactNeighborY="2419"/>
      <dgm:spPr/>
    </dgm:pt>
    <dgm:pt modelId="{14420304-3FC2-4FBB-BF42-7C11FFC66FE7}" type="pres">
      <dgm:prSet presAssocID="{C042F63D-AABB-48EE-B5F1-21B95DF13AFB}" presName="text_1" presStyleLbl="node1" presStyleIdx="0" presStyleCnt="0" custAng="10800000" custFlipVert="1" custScaleX="53764" custScaleY="18497" custLinFactY="734" custLinFactNeighborX="-6793" custLinFactNeighborY="100000">
        <dgm:presLayoutVars>
          <dgm:bulletEnabled val="1"/>
        </dgm:presLayoutVars>
      </dgm:prSet>
      <dgm:spPr/>
    </dgm:pt>
  </dgm:ptLst>
  <dgm:cxnLst>
    <dgm:cxn modelId="{7D2CFE32-6E30-48CE-9F3B-0AAFD1CCF1A9}" type="presOf" srcId="{20910B1B-1F1D-4A02-8D13-A5634748FA05}" destId="{ACA67E1E-A017-49B5-B21F-1196C6F7C80F}" srcOrd="0" destOrd="0" presId="urn:microsoft.com/office/officeart/2008/layout/CircularPictureCallout"/>
    <dgm:cxn modelId="{EE24434F-2B26-4FE2-989B-64583330641D}" srcId="{522DAE4A-8685-4034-83DC-61784AD3FCAA}" destId="{C042F63D-AABB-48EE-B5F1-21B95DF13AFB}" srcOrd="0" destOrd="0" parTransId="{51F77C08-C163-40DB-A8AB-0731141C4C26}" sibTransId="{20910B1B-1F1D-4A02-8D13-A5634748FA05}"/>
    <dgm:cxn modelId="{8400D17F-43C0-48D4-A4A2-462D3C9270B7}" type="presOf" srcId="{522DAE4A-8685-4034-83DC-61784AD3FCAA}" destId="{299F2557-7CEA-4DA9-B308-EAE5EE40374E}" srcOrd="0" destOrd="0" presId="urn:microsoft.com/office/officeart/2008/layout/CircularPictureCallout"/>
    <dgm:cxn modelId="{F6DC56CE-DFD5-4179-990B-62BDDBAC3AB1}" type="presOf" srcId="{C042F63D-AABB-48EE-B5F1-21B95DF13AFB}" destId="{14420304-3FC2-4FBB-BF42-7C11FFC66FE7}" srcOrd="0" destOrd="0" presId="urn:microsoft.com/office/officeart/2008/layout/CircularPictureCallout"/>
    <dgm:cxn modelId="{D22CF29F-93C1-43D7-B00F-A6CC9FF8F182}" type="presParOf" srcId="{299F2557-7CEA-4DA9-B308-EAE5EE40374E}" destId="{DCDDD71D-8F85-4DEB-A449-E2B999139228}" srcOrd="0" destOrd="0" presId="urn:microsoft.com/office/officeart/2008/layout/CircularPictureCallout"/>
    <dgm:cxn modelId="{EEBDFD13-6C2A-405A-99D3-006CDEF9428B}" type="presParOf" srcId="{DCDDD71D-8F85-4DEB-A449-E2B999139228}" destId="{3B4556D0-597B-44E8-ACE9-D0F9211A5E26}" srcOrd="0" destOrd="0" presId="urn:microsoft.com/office/officeart/2008/layout/CircularPictureCallout"/>
    <dgm:cxn modelId="{5EBE55F7-EEB6-4FC5-A3B3-1DEC1B9D338E}" type="presParOf" srcId="{3B4556D0-597B-44E8-ACE9-D0F9211A5E26}" destId="{ACA67E1E-A017-49B5-B21F-1196C6F7C80F}" srcOrd="0" destOrd="0" presId="urn:microsoft.com/office/officeart/2008/layout/CircularPictureCallout"/>
    <dgm:cxn modelId="{DDA9C5C5-BA1A-4C38-A0E3-C45C324109EA}" type="presParOf" srcId="{DCDDD71D-8F85-4DEB-A449-E2B999139228}" destId="{14420304-3FC2-4FBB-BF42-7C11FFC66FE7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EFA0A-E8C1-4995-8FB6-F1A1BE042BAC}">
      <dsp:nvSpPr>
        <dsp:cNvPr id="0" name=""/>
        <dsp:cNvSpPr/>
      </dsp:nvSpPr>
      <dsp:spPr>
        <a:xfrm>
          <a:off x="156" y="799685"/>
          <a:ext cx="1387489" cy="866037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Raw Dataset</a:t>
          </a:r>
        </a:p>
      </dsp:txBody>
      <dsp:txXfrm>
        <a:off x="25521" y="825050"/>
        <a:ext cx="1336759" cy="815307"/>
      </dsp:txXfrm>
    </dsp:sp>
    <dsp:sp modelId="{8BDB9438-1B43-40D7-B2B1-6E2B0504BC0A}">
      <dsp:nvSpPr>
        <dsp:cNvPr id="0" name=""/>
        <dsp:cNvSpPr/>
      </dsp:nvSpPr>
      <dsp:spPr>
        <a:xfrm>
          <a:off x="1521183" y="1067116"/>
          <a:ext cx="283101" cy="331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1521183" y="1133351"/>
        <a:ext cx="198171" cy="198704"/>
      </dsp:txXfrm>
    </dsp:sp>
    <dsp:sp modelId="{63401CDF-C503-4783-96D8-3CE5DE170310}">
      <dsp:nvSpPr>
        <dsp:cNvPr id="0" name=""/>
        <dsp:cNvSpPr/>
      </dsp:nvSpPr>
      <dsp:spPr>
        <a:xfrm>
          <a:off x="1921798" y="756973"/>
          <a:ext cx="1335382" cy="951460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 Loading</a:t>
          </a:r>
        </a:p>
      </dsp:txBody>
      <dsp:txXfrm>
        <a:off x="1949665" y="784840"/>
        <a:ext cx="1279648" cy="895726"/>
      </dsp:txXfrm>
    </dsp:sp>
    <dsp:sp modelId="{6ED4504B-C73C-4EF4-8246-2DC70D76284D}">
      <dsp:nvSpPr>
        <dsp:cNvPr id="0" name=""/>
        <dsp:cNvSpPr/>
      </dsp:nvSpPr>
      <dsp:spPr>
        <a:xfrm>
          <a:off x="3390719" y="1067116"/>
          <a:ext cx="283101" cy="331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3390719" y="1133351"/>
        <a:ext cx="198171" cy="198704"/>
      </dsp:txXfrm>
    </dsp:sp>
    <dsp:sp modelId="{C1F02C5B-FF20-47F2-B917-D79C256282AF}">
      <dsp:nvSpPr>
        <dsp:cNvPr id="0" name=""/>
        <dsp:cNvSpPr/>
      </dsp:nvSpPr>
      <dsp:spPr>
        <a:xfrm>
          <a:off x="3791333" y="756973"/>
          <a:ext cx="1335382" cy="951460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Missing Value check</a:t>
          </a:r>
        </a:p>
      </dsp:txBody>
      <dsp:txXfrm>
        <a:off x="3819200" y="784840"/>
        <a:ext cx="1279648" cy="895726"/>
      </dsp:txXfrm>
    </dsp:sp>
    <dsp:sp modelId="{5F450DE6-184C-4C69-8EB7-18D48422764E}">
      <dsp:nvSpPr>
        <dsp:cNvPr id="0" name=""/>
        <dsp:cNvSpPr/>
      </dsp:nvSpPr>
      <dsp:spPr>
        <a:xfrm>
          <a:off x="5260254" y="1067116"/>
          <a:ext cx="283101" cy="331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260254" y="1133351"/>
        <a:ext cx="198171" cy="198704"/>
      </dsp:txXfrm>
    </dsp:sp>
    <dsp:sp modelId="{8F1C0783-2467-4477-85E5-16B5EDBFB19A}">
      <dsp:nvSpPr>
        <dsp:cNvPr id="0" name=""/>
        <dsp:cNvSpPr/>
      </dsp:nvSpPr>
      <dsp:spPr>
        <a:xfrm>
          <a:off x="5660869" y="756973"/>
          <a:ext cx="1335382" cy="951460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Duplicate Removal</a:t>
          </a:r>
        </a:p>
      </dsp:txBody>
      <dsp:txXfrm>
        <a:off x="5688736" y="784840"/>
        <a:ext cx="1279648" cy="895726"/>
      </dsp:txXfrm>
    </dsp:sp>
    <dsp:sp modelId="{43ADE34F-2517-411E-89E5-D9E96C8CCB27}">
      <dsp:nvSpPr>
        <dsp:cNvPr id="0" name=""/>
        <dsp:cNvSpPr/>
      </dsp:nvSpPr>
      <dsp:spPr>
        <a:xfrm>
          <a:off x="7129790" y="1067116"/>
          <a:ext cx="283101" cy="331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7129790" y="1133351"/>
        <a:ext cx="198171" cy="198704"/>
      </dsp:txXfrm>
    </dsp:sp>
    <dsp:sp modelId="{38E1E331-3BA9-4FEA-84C0-33F9C25643F9}">
      <dsp:nvSpPr>
        <dsp:cNvPr id="0" name=""/>
        <dsp:cNvSpPr/>
      </dsp:nvSpPr>
      <dsp:spPr>
        <a:xfrm>
          <a:off x="7530404" y="756973"/>
          <a:ext cx="1335382" cy="951460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 cleaning</a:t>
          </a:r>
        </a:p>
      </dsp:txBody>
      <dsp:txXfrm>
        <a:off x="7558271" y="784840"/>
        <a:ext cx="1279648" cy="895726"/>
      </dsp:txXfrm>
    </dsp:sp>
    <dsp:sp modelId="{20E0D830-E889-4989-8975-21F750E846FD}">
      <dsp:nvSpPr>
        <dsp:cNvPr id="0" name=""/>
        <dsp:cNvSpPr/>
      </dsp:nvSpPr>
      <dsp:spPr>
        <a:xfrm>
          <a:off x="8999325" y="1067116"/>
          <a:ext cx="283101" cy="331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8999325" y="1133351"/>
        <a:ext cx="198171" cy="198704"/>
      </dsp:txXfrm>
    </dsp:sp>
    <dsp:sp modelId="{65E99851-2408-4C72-9A41-09761D836E86}">
      <dsp:nvSpPr>
        <dsp:cNvPr id="0" name=""/>
        <dsp:cNvSpPr/>
      </dsp:nvSpPr>
      <dsp:spPr>
        <a:xfrm>
          <a:off x="9399940" y="756973"/>
          <a:ext cx="1335382" cy="951460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Cleaned Dataset</a:t>
          </a:r>
        </a:p>
      </dsp:txBody>
      <dsp:txXfrm>
        <a:off x="9427807" y="784840"/>
        <a:ext cx="1279648" cy="895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A67E1E-A017-49B5-B21F-1196C6F7C80F}">
      <dsp:nvSpPr>
        <dsp:cNvPr id="0" name=""/>
        <dsp:cNvSpPr/>
      </dsp:nvSpPr>
      <dsp:spPr>
        <a:xfrm>
          <a:off x="0" y="529208"/>
          <a:ext cx="6075680" cy="373323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000" r="-44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20304-3FC2-4FBB-BF42-7C11FFC66FE7}">
      <dsp:nvSpPr>
        <dsp:cNvPr id="0" name=""/>
        <dsp:cNvSpPr/>
      </dsp:nvSpPr>
      <dsp:spPr>
        <a:xfrm rot="10800000" flipV="1">
          <a:off x="2383124" y="3834886"/>
          <a:ext cx="1045289" cy="18543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AL/ML</a:t>
          </a:r>
        </a:p>
      </dsp:txBody>
      <dsp:txXfrm rot="-10800000">
        <a:off x="2383124" y="3834886"/>
        <a:ext cx="1045289" cy="185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06791-E672-458D-A038-EA2E65C10D05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FA485-7DEE-43F5-8D1E-F99EE7E36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44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FA485-7DEE-43F5-8D1E-F99EE7E367A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34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1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5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7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6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8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0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6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7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0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4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32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799" r:id="rId2"/>
    <p:sldLayoutId id="2147483798" r:id="rId3"/>
    <p:sldLayoutId id="2147483797" r:id="rId4"/>
    <p:sldLayoutId id="2147483789" r:id="rId5"/>
    <p:sldLayoutId id="2147483796" r:id="rId6"/>
    <p:sldLayoutId id="2147483795" r:id="rId7"/>
    <p:sldLayoutId id="2147483794" r:id="rId8"/>
    <p:sldLayoutId id="2147483793" r:id="rId9"/>
    <p:sldLayoutId id="2147483792" r:id="rId10"/>
    <p:sldLayoutId id="214748379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99FAEB5-D20D-48E2-B67F-57D161AE4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DB2B-0EAE-EA64-7673-FD1CAB4F2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7" y="625034"/>
            <a:ext cx="11840555" cy="2372809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5400" dirty="0"/>
              <a:t>Student Performance </a:t>
            </a:r>
            <a:br>
              <a:rPr lang="en-IN" sz="5400" dirty="0"/>
            </a:br>
            <a:r>
              <a:rPr lang="en-IN" sz="5400" dirty="0"/>
              <a:t>Prediction System</a:t>
            </a:r>
            <a:br>
              <a:rPr lang="en-IN" sz="3600" dirty="0"/>
            </a:br>
            <a:br>
              <a:rPr lang="en-IN" sz="3600" dirty="0"/>
            </a:b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82E72-D2AC-432D-7495-848898210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968" y="4330956"/>
            <a:ext cx="3063812" cy="180420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700" dirty="0"/>
              <a:t>Submitted By : Siddhi Mohite</a:t>
            </a:r>
          </a:p>
          <a:p>
            <a:pPr>
              <a:lnSpc>
                <a:spcPct val="100000"/>
              </a:lnSpc>
            </a:pPr>
            <a:r>
              <a:rPr lang="en-IN" sz="1700" dirty="0"/>
              <a:t>Technologies Used : Python, Pandas, NumPy, Matplotlib, Seaborn, </a:t>
            </a:r>
          </a:p>
          <a:p>
            <a:pPr>
              <a:lnSpc>
                <a:spcPct val="100000"/>
              </a:lnSpc>
            </a:pPr>
            <a:r>
              <a:rPr lang="en-IN" sz="1700" dirty="0"/>
              <a:t>Scikit-learn, Flask</a:t>
            </a:r>
          </a:p>
        </p:txBody>
      </p:sp>
      <p:pic>
        <p:nvPicPr>
          <p:cNvPr id="5" name="Graphic 4" descr="Head with gears with solid fill">
            <a:extLst>
              <a:ext uri="{FF2B5EF4-FFF2-40B4-BE49-F238E27FC236}">
                <a16:creationId xmlns:a16="http://schemas.microsoft.com/office/drawing/2014/main" id="{65C4CD06-9C0C-7AA2-12CE-E6BB5A5F1D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1100" y="934720"/>
            <a:ext cx="4447932" cy="447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3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DA99-0311-4B5D-A9B9-F707E645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3ACAB-1E6E-763A-EFFB-9F0CF6E4F4D5}"/>
              </a:ext>
            </a:extLst>
          </p:cNvPr>
          <p:cNvSpPr txBox="1"/>
          <p:nvPr/>
        </p:nvSpPr>
        <p:spPr>
          <a:xfrm>
            <a:off x="515112" y="2274838"/>
            <a:ext cx="801543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Educational institutions often need to identify students who may face academic difficulties. Predicting student performance using traditional methods can be time-consuming and inaccurate.</a:t>
            </a:r>
          </a:p>
          <a:p>
            <a:endParaRPr lang="en-US" dirty="0"/>
          </a:p>
          <a:p>
            <a:r>
              <a:rPr lang="en-US" dirty="0"/>
              <a:t>This project aims to use Machine Learning techniques to predict a student's final marks based on factors such as attendance, study hours, and internal marks. </a:t>
            </a:r>
          </a:p>
          <a:p>
            <a:r>
              <a:rPr lang="en-US" dirty="0"/>
              <a:t>The prediction can help educators identify students who need additional support and improve overall academic performance.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325A37-EBEC-6CBE-6529-A1DD7A306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963" y="2274838"/>
            <a:ext cx="3857504" cy="4392661"/>
          </a:xfrm>
          <a:prstGeom prst="rect">
            <a:avLst/>
          </a:prstGeom>
          <a:ln>
            <a:noFill/>
          </a:ln>
          <a:effectLst>
            <a:outerShdw blurRad="127000" dist="50800" dir="4800000" sx="158000" sy="158000" algn="ctr" rotWithShape="0">
              <a:srgbClr val="000000">
                <a:alpha val="0"/>
              </a:srgbClr>
            </a:outerShdw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2729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DDFE4-0997-857F-9F1E-F660CFC8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Objectives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D1198-BDF1-9D9C-C0E2-C3BABB9EEB15}"/>
              </a:ext>
            </a:extLst>
          </p:cNvPr>
          <p:cNvSpPr txBox="1"/>
          <p:nvPr/>
        </p:nvSpPr>
        <p:spPr>
          <a:xfrm>
            <a:off x="278140" y="2234258"/>
            <a:ext cx="6263640" cy="43645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main objectives of this project are: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To analyze student academic data.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To perform data cleaning and preprocessing.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To visualize important patterns using graphs and charts.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To build and train machine learning models for prediction.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 To compare different machine learning algorithms.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To predict student final marks accurately.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C77D721-931B-EA2F-A18C-85198ABCF0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77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6665-818B-45BF-77B9-562EBC924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A88F78-E9D0-4456-6049-FAC9166CD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620729"/>
              </p:ext>
            </p:extLst>
          </p:nvPr>
        </p:nvGraphicFramePr>
        <p:xfrm>
          <a:off x="643037" y="2002420"/>
          <a:ext cx="5699890" cy="4247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945">
                  <a:extLst>
                    <a:ext uri="{9D8B030D-6E8A-4147-A177-3AD203B41FA5}">
                      <a16:colId xmlns:a16="http://schemas.microsoft.com/office/drawing/2014/main" val="1099974871"/>
                    </a:ext>
                  </a:extLst>
                </a:gridCol>
                <a:gridCol w="2849945">
                  <a:extLst>
                    <a:ext uri="{9D8B030D-6E8A-4147-A177-3AD203B41FA5}">
                      <a16:colId xmlns:a16="http://schemas.microsoft.com/office/drawing/2014/main" val="2256946007"/>
                    </a:ext>
                  </a:extLst>
                </a:gridCol>
              </a:tblGrid>
              <a:tr h="849541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567967"/>
                  </a:ext>
                </a:extLst>
              </a:tr>
              <a:tr h="849541">
                <a:tc>
                  <a:txBody>
                    <a:bodyPr/>
                    <a:lstStyle/>
                    <a:p>
                      <a:r>
                        <a:rPr lang="en-IN" dirty="0"/>
                        <a:t>Attendance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attendance percentage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646040"/>
                  </a:ext>
                </a:extLst>
              </a:tr>
              <a:tr h="849541">
                <a:tc>
                  <a:txBody>
                    <a:bodyPr/>
                    <a:lstStyle/>
                    <a:p>
                      <a:r>
                        <a:rPr lang="en-IN" dirty="0"/>
                        <a:t>Study Hours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Hours spent studying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711592"/>
                  </a:ext>
                </a:extLst>
              </a:tr>
              <a:tr h="849541">
                <a:tc>
                  <a:txBody>
                    <a:bodyPr/>
                    <a:lstStyle/>
                    <a:p>
                      <a:r>
                        <a:rPr lang="en-IN" dirty="0"/>
                        <a:t>Internal Marks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Internal assessment score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807454"/>
                  </a:ext>
                </a:extLst>
              </a:tr>
              <a:tr h="849541">
                <a:tc>
                  <a:txBody>
                    <a:bodyPr/>
                    <a:lstStyle/>
                    <a:p>
                      <a:r>
                        <a:rPr lang="en-IN" dirty="0"/>
                        <a:t>Final Marks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 exam score (Target Variable)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  <a:alpha val="1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05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B19193-1167-62D7-7452-308017284289}"/>
              </a:ext>
            </a:extLst>
          </p:cNvPr>
          <p:cNvSpPr txBox="1"/>
          <p:nvPr/>
        </p:nvSpPr>
        <p:spPr>
          <a:xfrm>
            <a:off x="6537728" y="5628530"/>
            <a:ext cx="5139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Dataset contains student academic information.</a:t>
            </a:r>
          </a:p>
          <a:p>
            <a:r>
              <a:rPr lang="en-US" dirty="0"/>
              <a:t>• Final Marks is the target variable used for prediction.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34BB60-AF6F-D21F-15F3-AF2AB6C9F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448" y="1127942"/>
            <a:ext cx="4658515" cy="413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5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EB5D-D13C-66ED-3F51-0B5014D7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1A34CAE-5109-34A6-A416-CA8082305B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086788"/>
              </p:ext>
            </p:extLst>
          </p:nvPr>
        </p:nvGraphicFramePr>
        <p:xfrm>
          <a:off x="557553" y="1412110"/>
          <a:ext cx="10735479" cy="2465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A844B7-A200-099D-612C-0C1A2E52C540}"/>
              </a:ext>
            </a:extLst>
          </p:cNvPr>
          <p:cNvSpPr txBox="1"/>
          <p:nvPr/>
        </p:nvSpPr>
        <p:spPr>
          <a:xfrm>
            <a:off x="521208" y="3567896"/>
            <a:ext cx="853922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Loaded the dataset using Pandas.</a:t>
            </a:r>
          </a:p>
          <a:p>
            <a:endParaRPr lang="en-US" dirty="0"/>
          </a:p>
          <a:p>
            <a:r>
              <a:rPr lang="en-US" dirty="0"/>
              <a:t>• Checked for missing values.</a:t>
            </a:r>
          </a:p>
          <a:p>
            <a:endParaRPr lang="en-US" dirty="0"/>
          </a:p>
          <a:p>
            <a:r>
              <a:rPr lang="en-US" dirty="0"/>
              <a:t>• Removed duplicate records.</a:t>
            </a:r>
          </a:p>
          <a:p>
            <a:endParaRPr lang="en-US" dirty="0"/>
          </a:p>
          <a:p>
            <a:r>
              <a:rPr lang="en-US" dirty="0"/>
              <a:t>• Cleaned and prepared the dataset for machine learning.</a:t>
            </a:r>
          </a:p>
          <a:p>
            <a:endParaRPr lang="en-US" dirty="0"/>
          </a:p>
          <a:p>
            <a:r>
              <a:rPr lang="en-US" dirty="0"/>
              <a:t>• Saved the cleaned dataset for further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14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569B-5A88-BC07-4306-8904BF6E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Exploratory Data Analysis(EDA)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105BD3-2750-06D8-7A0C-9C81034FC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9" t="10130" r="11949" b="3191"/>
          <a:stretch>
            <a:fillRect/>
          </a:stretch>
        </p:blipFill>
        <p:spPr>
          <a:xfrm>
            <a:off x="8437945" y="1981170"/>
            <a:ext cx="3449256" cy="21162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79E8C1-356B-7FE1-809C-F228F56E1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4" t="8776" r="5604" b="2802"/>
          <a:stretch>
            <a:fillRect/>
          </a:stretch>
        </p:blipFill>
        <p:spPr>
          <a:xfrm>
            <a:off x="7068274" y="4301894"/>
            <a:ext cx="3368233" cy="21162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8E85EC-63B1-9352-1E79-FD0CC234224F}"/>
              </a:ext>
            </a:extLst>
          </p:cNvPr>
          <p:cNvSpPr txBox="1"/>
          <p:nvPr/>
        </p:nvSpPr>
        <p:spPr>
          <a:xfrm>
            <a:off x="515112" y="2186243"/>
            <a:ext cx="60940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Insights from EDA</a:t>
            </a:r>
          </a:p>
          <a:p>
            <a:endParaRPr lang="en-US" dirty="0"/>
          </a:p>
          <a:p>
            <a:r>
              <a:rPr lang="en-US" dirty="0"/>
              <a:t>• Correlation analysis was performed to understand relationships between features.</a:t>
            </a:r>
          </a:p>
          <a:p>
            <a:endParaRPr lang="en-US" dirty="0"/>
          </a:p>
          <a:p>
            <a:r>
              <a:rPr lang="en-US" dirty="0"/>
              <a:t>• Attendance, Study Hours, and Internal Marks positively influence Final Marks.</a:t>
            </a:r>
          </a:p>
          <a:p>
            <a:endParaRPr lang="en-US" dirty="0"/>
          </a:p>
          <a:p>
            <a:r>
              <a:rPr lang="en-US" dirty="0"/>
              <a:t>• Strong correlations indicate that these features are useful for prediction.</a:t>
            </a:r>
          </a:p>
          <a:p>
            <a:endParaRPr lang="en-US" dirty="0"/>
          </a:p>
          <a:p>
            <a:r>
              <a:rPr lang="en-US" dirty="0"/>
              <a:t>• The analysis helped in selecting relevant features for machine learning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040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385B-C837-5377-762B-8E65E181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Machine Learning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0E97E-643B-2D02-FAE8-515A6998AEC1}"/>
              </a:ext>
            </a:extLst>
          </p:cNvPr>
          <p:cNvSpPr txBox="1"/>
          <p:nvPr/>
        </p:nvSpPr>
        <p:spPr>
          <a:xfrm>
            <a:off x="515112" y="2071083"/>
            <a:ext cx="66852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Models Used</a:t>
            </a:r>
          </a:p>
          <a:p>
            <a:endParaRPr lang="en-IN" dirty="0"/>
          </a:p>
          <a:p>
            <a:r>
              <a:rPr lang="en-IN" dirty="0"/>
              <a:t>• Linear Regression</a:t>
            </a:r>
          </a:p>
          <a:p>
            <a:r>
              <a:rPr lang="en-IN" dirty="0"/>
              <a:t>• Decision Tree Regressor</a:t>
            </a:r>
          </a:p>
          <a:p>
            <a:r>
              <a:rPr lang="en-IN" dirty="0"/>
              <a:t>• Random Forest Regressor</a:t>
            </a:r>
          </a:p>
          <a:p>
            <a:endParaRPr lang="en-IN" dirty="0"/>
          </a:p>
          <a:p>
            <a:r>
              <a:rPr lang="en-IN" dirty="0"/>
              <a:t>Model Evaluation Metrics</a:t>
            </a:r>
          </a:p>
          <a:p>
            <a:endParaRPr lang="en-IN" dirty="0"/>
          </a:p>
          <a:p>
            <a:r>
              <a:rPr lang="en-IN" dirty="0"/>
              <a:t>• Mean Absolute Error (MAE)</a:t>
            </a:r>
          </a:p>
          <a:p>
            <a:r>
              <a:rPr lang="en-IN" dirty="0"/>
              <a:t>• R² Score</a:t>
            </a:r>
          </a:p>
          <a:p>
            <a:endParaRPr lang="en-IN" dirty="0"/>
          </a:p>
          <a:p>
            <a:r>
              <a:rPr lang="en-IN" dirty="0"/>
              <a:t>Best Model</a:t>
            </a:r>
          </a:p>
          <a:p>
            <a:endParaRPr lang="en-IN" dirty="0"/>
          </a:p>
          <a:p>
            <a:r>
              <a:rPr lang="en-IN" dirty="0"/>
              <a:t>• Linear Regression</a:t>
            </a:r>
          </a:p>
          <a:p>
            <a:r>
              <a:rPr lang="en-IN" dirty="0"/>
              <a:t>• MAE = 0.25</a:t>
            </a:r>
          </a:p>
          <a:p>
            <a:r>
              <a:rPr lang="en-IN" dirty="0"/>
              <a:t>• R² Score = 0.99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2DFA2C4-85EA-8455-1B76-858C397AB9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0854530"/>
              </p:ext>
            </p:extLst>
          </p:nvPr>
        </p:nvGraphicFramePr>
        <p:xfrm>
          <a:off x="5201920" y="1859280"/>
          <a:ext cx="6075680" cy="4644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6988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B896-5FA6-2D2A-C945-3193F15AF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Flask Web Application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DADA9-772D-A7FE-EAB2-9C83CDA8E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311" b="26181"/>
          <a:stretch>
            <a:fillRect/>
          </a:stretch>
        </p:blipFill>
        <p:spPr>
          <a:xfrm>
            <a:off x="427907" y="1806628"/>
            <a:ext cx="5616242" cy="1799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B84707-7D1D-A260-4D27-70992F4F3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56"/>
          <a:stretch>
            <a:fillRect/>
          </a:stretch>
        </p:blipFill>
        <p:spPr>
          <a:xfrm>
            <a:off x="6044149" y="1806628"/>
            <a:ext cx="5463469" cy="17999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50BA36-1421-97D7-E508-9CBB05FF7E98}"/>
              </a:ext>
            </a:extLst>
          </p:cNvPr>
          <p:cNvSpPr txBox="1"/>
          <p:nvPr/>
        </p:nvSpPr>
        <p:spPr>
          <a:xfrm>
            <a:off x="509997" y="3606620"/>
            <a:ext cx="59030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Features of the Web Application</a:t>
            </a:r>
          </a:p>
          <a:p>
            <a:endParaRPr lang="en-US" dirty="0"/>
          </a:p>
          <a:p>
            <a:r>
              <a:rPr lang="en-US" dirty="0"/>
              <a:t>• User-friendly interface for entering student details.</a:t>
            </a:r>
          </a:p>
          <a:p>
            <a:endParaRPr lang="en-US" dirty="0"/>
          </a:p>
          <a:p>
            <a:r>
              <a:rPr lang="en-US" dirty="0"/>
              <a:t>• Accepts Attendance, Study Hours, and Internal Marks.</a:t>
            </a:r>
          </a:p>
          <a:p>
            <a:endParaRPr lang="en-US" dirty="0"/>
          </a:p>
          <a:p>
            <a:r>
              <a:rPr lang="en-US" dirty="0"/>
              <a:t>• Uses the trained machine learning model for prediction.</a:t>
            </a:r>
          </a:p>
          <a:p>
            <a:endParaRPr lang="en-US" dirty="0"/>
          </a:p>
          <a:p>
            <a:r>
              <a:rPr lang="en-US" dirty="0"/>
              <a:t>• Displays predicted final marks instantly.</a:t>
            </a:r>
          </a:p>
          <a:p>
            <a:endParaRPr lang="en-US" dirty="0"/>
          </a:p>
          <a:p>
            <a:r>
              <a:rPr lang="en-US" dirty="0"/>
              <a:t>• Built using Flask and HTML.</a:t>
            </a:r>
            <a:endParaRPr lang="en-IN" dirty="0"/>
          </a:p>
        </p:txBody>
      </p:sp>
      <p:pic>
        <p:nvPicPr>
          <p:cNvPr id="10" name="Graphic 9" descr="Internet with solid fill">
            <a:extLst>
              <a:ext uri="{FF2B5EF4-FFF2-40B4-BE49-F238E27FC236}">
                <a16:creationId xmlns:a16="http://schemas.microsoft.com/office/drawing/2014/main" id="{A9EDCF58-D69E-2F40-96E0-1344ED37D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8096" y="5879592"/>
            <a:ext cx="1393129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48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2056-0B35-F02F-E027-5C8E0CE66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D1B97-FB6E-3FE9-61DC-753039ECDB48}"/>
              </a:ext>
            </a:extLst>
          </p:cNvPr>
          <p:cNvSpPr txBox="1"/>
          <p:nvPr/>
        </p:nvSpPr>
        <p:spPr>
          <a:xfrm>
            <a:off x="402844" y="218926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 Performance</a:t>
            </a:r>
          </a:p>
          <a:p>
            <a:endParaRPr lang="en-US" dirty="0"/>
          </a:p>
          <a:p>
            <a:r>
              <a:rPr lang="en-US" dirty="0"/>
              <a:t>• Mean Absolute Error (MAE): 0.25</a:t>
            </a:r>
          </a:p>
          <a:p>
            <a:endParaRPr lang="en-US" dirty="0"/>
          </a:p>
          <a:p>
            <a:r>
              <a:rPr lang="en-US" dirty="0"/>
              <a:t>• R² Score: 0.99</a:t>
            </a:r>
          </a:p>
          <a:p>
            <a:endParaRPr lang="en-US" dirty="0"/>
          </a:p>
          <a:p>
            <a:r>
              <a:rPr lang="en-US" dirty="0"/>
              <a:t>• Linear Regression achieved the best performance.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296C4-8133-CCBA-7424-7D311E524385}"/>
              </a:ext>
            </a:extLst>
          </p:cNvPr>
          <p:cNvSpPr txBox="1"/>
          <p:nvPr/>
        </p:nvSpPr>
        <p:spPr>
          <a:xfrm>
            <a:off x="6360160" y="218926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Conclusion</a:t>
            </a:r>
          </a:p>
          <a:p>
            <a:endParaRPr lang="en-US" dirty="0"/>
          </a:p>
          <a:p>
            <a:r>
              <a:rPr lang="en-US" dirty="0"/>
              <a:t>• Successfully predicted student final marks.</a:t>
            </a:r>
          </a:p>
          <a:p>
            <a:endParaRPr lang="en-US" dirty="0"/>
          </a:p>
          <a:p>
            <a:r>
              <a:rPr lang="en-US" dirty="0"/>
              <a:t>• Attendance, Study Hours, and Internal Marks were important factors.</a:t>
            </a:r>
          </a:p>
          <a:p>
            <a:endParaRPr lang="en-US" dirty="0"/>
          </a:p>
          <a:p>
            <a:r>
              <a:rPr lang="en-US" dirty="0"/>
              <a:t>• The machine learning model achieved high prediction accuracy.</a:t>
            </a:r>
          </a:p>
        </p:txBody>
      </p:sp>
      <p:pic>
        <p:nvPicPr>
          <p:cNvPr id="8" name="Graphic 7" descr="Trophy with solid fill">
            <a:extLst>
              <a:ext uri="{FF2B5EF4-FFF2-40B4-BE49-F238E27FC236}">
                <a16:creationId xmlns:a16="http://schemas.microsoft.com/office/drawing/2014/main" id="{B2843145-6BDB-B870-2E1E-771AB3FDF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0" y="57962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1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6AD3-DF03-F2E3-7377-6CBB2F76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2BB6C-3D0D-4231-5D80-C5E991E17D3C}"/>
              </a:ext>
            </a:extLst>
          </p:cNvPr>
          <p:cNvSpPr txBox="1"/>
          <p:nvPr/>
        </p:nvSpPr>
        <p:spPr>
          <a:xfrm>
            <a:off x="515112" y="2186273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Future Scope</a:t>
            </a:r>
          </a:p>
          <a:p>
            <a:endParaRPr lang="en-US" dirty="0"/>
          </a:p>
          <a:p>
            <a:r>
              <a:rPr lang="en-US" dirty="0"/>
              <a:t>• Use a larger real-world student dataset.</a:t>
            </a:r>
          </a:p>
          <a:p>
            <a:endParaRPr lang="en-US" dirty="0"/>
          </a:p>
          <a:p>
            <a:r>
              <a:rPr lang="en-US" dirty="0"/>
              <a:t>• Add more features such as assignments, extracurricular activities, and attendance history.</a:t>
            </a:r>
          </a:p>
          <a:p>
            <a:endParaRPr lang="en-US" dirty="0"/>
          </a:p>
          <a:p>
            <a:r>
              <a:rPr lang="en-US" dirty="0"/>
              <a:t>• Improve prediction accuracy using advanced machine learning algorithms.</a:t>
            </a:r>
          </a:p>
          <a:p>
            <a:endParaRPr lang="en-US" dirty="0"/>
          </a:p>
          <a:p>
            <a:r>
              <a:rPr lang="en-US" dirty="0"/>
              <a:t>• Integrate a database for storing student records.</a:t>
            </a:r>
          </a:p>
          <a:p>
            <a:endParaRPr lang="en-US" dirty="0"/>
          </a:p>
          <a:p>
            <a:r>
              <a:rPr lang="en-US" dirty="0"/>
              <a:t>• Deploy the application on the cloud for public access.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BE707-AE48-7B22-F946-F491AE63D89A}"/>
              </a:ext>
            </a:extLst>
          </p:cNvPr>
          <p:cNvSpPr txBox="1"/>
          <p:nvPr/>
        </p:nvSpPr>
        <p:spPr>
          <a:xfrm>
            <a:off x="7162800" y="1981260"/>
            <a:ext cx="6827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/>
              <a:t>Thank You!</a:t>
            </a:r>
          </a:p>
          <a:p>
            <a:r>
              <a:rPr lang="en-IN" sz="5400" b="1" dirty="0"/>
              <a:t>Questions &amp; </a:t>
            </a:r>
          </a:p>
          <a:p>
            <a:r>
              <a:rPr lang="en-IN" sz="5400" b="1" dirty="0"/>
              <a:t>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AF293D-CA13-FB70-5255-C5F4A1D96D9B}"/>
              </a:ext>
            </a:extLst>
          </p:cNvPr>
          <p:cNvSpPr txBox="1"/>
          <p:nvPr/>
        </p:nvSpPr>
        <p:spPr>
          <a:xfrm>
            <a:off x="5560060" y="4566583"/>
            <a:ext cx="7076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Siddhi Mohite</a:t>
            </a:r>
          </a:p>
          <a:p>
            <a:pPr algn="ctr"/>
            <a:r>
              <a:rPr lang="en-US" dirty="0"/>
              <a:t>AI/ML Internship Project</a:t>
            </a:r>
            <a:endParaRPr lang="en-IN" dirty="0"/>
          </a:p>
        </p:txBody>
      </p:sp>
      <p:pic>
        <p:nvPicPr>
          <p:cNvPr id="10" name="Graphic 9" descr="Handshake with solid fill">
            <a:extLst>
              <a:ext uri="{FF2B5EF4-FFF2-40B4-BE49-F238E27FC236}">
                <a16:creationId xmlns:a16="http://schemas.microsoft.com/office/drawing/2014/main" id="{065401AE-D810-A95F-DBA7-856F480F2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600" y="5659120"/>
            <a:ext cx="1158240" cy="103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812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542</Words>
  <Application>Microsoft Office PowerPoint</Application>
  <PresentationFormat>Widescreen</PresentationFormat>
  <Paragraphs>125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Bierstadt</vt:lpstr>
      <vt:lpstr>Calibri</vt:lpstr>
      <vt:lpstr>GestaltVTI</vt:lpstr>
      <vt:lpstr>Student Performance  Prediction System  </vt:lpstr>
      <vt:lpstr>Problem Statement</vt:lpstr>
      <vt:lpstr>Project Objectives</vt:lpstr>
      <vt:lpstr>Dataset Description</vt:lpstr>
      <vt:lpstr>Data Preprocessing</vt:lpstr>
      <vt:lpstr>Exploratory Data Analysis(EDA)</vt:lpstr>
      <vt:lpstr>Machine Learning Models</vt:lpstr>
      <vt:lpstr>Flask Web Application</vt:lpstr>
      <vt:lpstr>Results &amp; Conclusion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dnyaneshwar mohite</dc:creator>
  <cp:lastModifiedBy>dnyaneshwar mohite</cp:lastModifiedBy>
  <cp:revision>1</cp:revision>
  <dcterms:created xsi:type="dcterms:W3CDTF">2026-06-04T05:53:20Z</dcterms:created>
  <dcterms:modified xsi:type="dcterms:W3CDTF">2026-06-04T08:01:35Z</dcterms:modified>
</cp:coreProperties>
</file>