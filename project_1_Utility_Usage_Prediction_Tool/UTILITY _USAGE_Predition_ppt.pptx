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86" y="3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2298A-AA10-D028-2853-E1749B77FF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588A2B-1146-C0C2-066F-8CC86BB52D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76164A-350C-FB5A-FF5D-0ABB5AE2C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1E67B-F428-452A-BAC4-54C5E5447625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E876D8-D81B-F3B8-C3F1-CFF36AD0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B9F477-5A84-7AE6-D265-85EB405DB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41293-DD30-4552-839D-97CB5320C3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6970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DF433-685D-2D37-7A3B-30E9AB19C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1112E-05F4-F578-6916-6857744E7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B2206D-BBCC-38CB-4EFE-E1AF79E1A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1E67B-F428-452A-BAC4-54C5E5447625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5957E-A1A7-1D9E-824A-136B8A170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CA33AB-E62D-B580-9211-8C9A642D2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41293-DD30-4552-839D-97CB5320C3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2793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6FA2E-8B15-8251-F590-68F681EC4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3EF4C7-19C5-A552-1976-7184F99FEF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E7003E-0D08-AE01-9515-92A5ABC41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1E67B-F428-452A-BAC4-54C5E5447625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CBF852-6690-2A0C-515B-21043F26F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5CD6CD-3C47-981E-B181-A64C26CD3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41293-DD30-4552-839D-97CB5320C3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6528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ACAA8-33FF-2F9E-F22B-D4090D0FC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04A6C-F189-E38F-2B7B-2C7C52086F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3A7DB3-1ABE-AB4B-26D3-9240691811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39DBA9-6972-A0DC-99D5-C247B9970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1E67B-F428-452A-BAC4-54C5E5447625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458763-0394-F9FB-488B-EF043A065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EB965B-20E1-332A-77DF-F5501ECE2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41293-DD30-4552-839D-97CB5320C3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4213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A4934-943D-6746-CCB5-0A4A44EDA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12F035-9273-8EC7-197F-707F898F0A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E53DA5-9C71-04D9-7561-4B1ECB6878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DAB0EE-5852-56BC-648F-4189DC1B32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37148D-E7B9-C99A-A727-B917376F97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43A2F7-EF7B-B454-487F-E24619B17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1E67B-F428-452A-BAC4-54C5E5447625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0C8AF2-48F6-DA2B-3A4B-FB639A3F5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5A3CC9-C6F1-D775-7A7F-EC15F3A7C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41293-DD30-4552-839D-97CB5320C3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6246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D6824-1423-E3F3-147C-F0DC499B8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94E9CE-F53D-5866-B03C-CA7EAC252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1E67B-F428-452A-BAC4-54C5E5447625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B20792-AD4A-2C39-ACFC-F3FA13129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CC7079-0D1B-9FEF-6920-4BF68077C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41293-DD30-4552-839D-97CB5320C3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2320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547105-A4B2-7F2C-55A6-690D5C9AC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1E67B-F428-452A-BAC4-54C5E5447625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A4345A-E558-0FA7-EF97-FD4133C79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31F34E-3849-1287-4072-525B89088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41293-DD30-4552-839D-97CB5320C3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6541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182E4-5649-1E94-E589-D3720861D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31A26-8408-A298-C4A3-31A8221171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54B0BE-CD6A-3FFE-2280-F47147A3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480331-71C2-C50E-315E-474655AE6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1E67B-F428-452A-BAC4-54C5E5447625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988177-71D0-CFCF-A460-3590EA594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1F9FE2-81FB-7425-3A1A-87A7E857C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41293-DD30-4552-839D-97CB5320C3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2567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B884E-5805-FC24-F8E1-05A91F917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D8DBFF-DBEB-A57A-E588-CB58D20AE7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69C093-FA71-B0A9-0430-0F00F7F748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60CB0E-921B-C902-834E-61CCC0B94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1E67B-F428-452A-BAC4-54C5E5447625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E0F61E-36DF-BE50-1C1A-DCC0ACFDD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B7AD75-CA97-F75E-95D5-C8182811D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41293-DD30-4552-839D-97CB5320C3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314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A386D-F46F-9DC5-A241-67FDA97A8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E873C8-8104-A8DD-B069-903D230F4D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A0A62C-A75D-22F2-B2AB-A7D22E415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1E67B-F428-452A-BAC4-54C5E5447625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B52273-FEE6-6FBD-0CB3-F3298EA90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E21A66-02FA-BAC4-B211-FF925BA6F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41293-DD30-4552-839D-97CB5320C3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1716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1C8409-989E-ED1B-8FC8-14C330D17B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84C600-FEB5-1F81-66D9-36C7D47FA2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7E277-117A-0188-BDC3-2A2DCDC0F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1E67B-F428-452A-BAC4-54C5E5447625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D091EC-F29C-B281-37BD-5D9470F5A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58FBA-37AD-F994-5D8B-F3053523B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41293-DD30-4552-839D-97CB5320C3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8781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C0FE11-009F-E119-96CB-BE05AB25D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A5540B-1B0D-DD9D-4B12-3BA2939EEC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F56434-1E1B-C119-AAE8-328355C353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11E67B-F428-452A-BAC4-54C5E5447625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D39048-8748-261A-505A-F8305DC04B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797F8-65D0-4561-2618-91683A37BD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241293-DD30-4552-839D-97CB5320C3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6513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0"/>
                <a:lumOff val="100000"/>
              </a:schemeClr>
            </a:gs>
            <a:gs pos="35000">
              <a:schemeClr val="accent5">
                <a:lumMod val="0"/>
                <a:lumOff val="100000"/>
              </a:schemeClr>
            </a:gs>
            <a:gs pos="100000">
              <a:schemeClr val="accent5">
                <a:lumMod val="100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60C8AA6-1006-F03A-47A5-9C629C50A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093" y="1007151"/>
            <a:ext cx="10515600" cy="1325563"/>
          </a:xfrm>
        </p:spPr>
        <p:txBody>
          <a:bodyPr>
            <a:noAutofit/>
          </a:bodyPr>
          <a:lstStyle/>
          <a:p>
            <a:r>
              <a:rPr lang="en-IN" sz="5400" b="1" dirty="0"/>
              <a:t>UTILITY USAGE </a:t>
            </a:r>
            <a:br>
              <a:rPr lang="en-IN" sz="5400" b="1" dirty="0"/>
            </a:br>
            <a:r>
              <a:rPr lang="en-IN" sz="5400" b="1" dirty="0"/>
              <a:t>PREDICTION TOOL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0DD8E3-43ED-130D-B612-402440F54804}"/>
              </a:ext>
            </a:extLst>
          </p:cNvPr>
          <p:cNvSpPr txBox="1"/>
          <p:nvPr/>
        </p:nvSpPr>
        <p:spPr>
          <a:xfrm>
            <a:off x="527725" y="4096523"/>
            <a:ext cx="609437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Presented By:</a:t>
            </a:r>
          </a:p>
          <a:p>
            <a:r>
              <a:rPr lang="en-US" b="1" dirty="0"/>
              <a:t>Siddhi Mohite</a:t>
            </a:r>
          </a:p>
          <a:p>
            <a:endParaRPr lang="en-US" dirty="0"/>
          </a:p>
          <a:p>
            <a:r>
              <a:rPr lang="en-US" dirty="0"/>
              <a:t>Internship:</a:t>
            </a:r>
          </a:p>
          <a:p>
            <a:r>
              <a:rPr lang="en-US" b="1" dirty="0" err="1"/>
              <a:t>CodeVedX</a:t>
            </a:r>
            <a:r>
              <a:rPr lang="en-US" b="1" dirty="0"/>
              <a:t> AI/ML Virtual Internship</a:t>
            </a:r>
          </a:p>
          <a:p>
            <a:endParaRPr lang="en-US" dirty="0"/>
          </a:p>
          <a:p>
            <a:r>
              <a:rPr lang="en-US" dirty="0"/>
              <a:t>Submission Year: 5 June 2026</a:t>
            </a:r>
            <a:endParaRPr lang="en-IN" dirty="0"/>
          </a:p>
        </p:txBody>
      </p:sp>
      <p:pic>
        <p:nvPicPr>
          <p:cNvPr id="10" name="Graphic 9" descr="Bar graph with upward trend with solid fill">
            <a:extLst>
              <a:ext uri="{FF2B5EF4-FFF2-40B4-BE49-F238E27FC236}">
                <a16:creationId xmlns:a16="http://schemas.microsoft.com/office/drawing/2014/main" id="{A7BF53BA-AD88-854C-C06B-09C023F3C6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69157" y="2046050"/>
            <a:ext cx="3680297" cy="368029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7A88619-A967-A8F6-F7E6-CD9BC621B727}"/>
              </a:ext>
            </a:extLst>
          </p:cNvPr>
          <p:cNvSpPr txBox="1"/>
          <p:nvPr/>
        </p:nvSpPr>
        <p:spPr>
          <a:xfrm>
            <a:off x="449093" y="2576811"/>
            <a:ext cx="60943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Machine Learning Based Console Application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873369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0"/>
                <a:lumOff val="100000"/>
              </a:schemeClr>
            </a:gs>
            <a:gs pos="35000">
              <a:schemeClr val="accent5">
                <a:lumMod val="0"/>
                <a:lumOff val="100000"/>
              </a:schemeClr>
            </a:gs>
            <a:gs pos="100000">
              <a:schemeClr val="accent5">
                <a:lumMod val="100000"/>
              </a:scheme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ADF2C-1CFB-3B69-1A12-44FC678CA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4F5691-75D4-6FF0-1603-D7A0D22C67FE}"/>
              </a:ext>
            </a:extLst>
          </p:cNvPr>
          <p:cNvSpPr txBox="1"/>
          <p:nvPr/>
        </p:nvSpPr>
        <p:spPr>
          <a:xfrm>
            <a:off x="418289" y="1774102"/>
            <a:ext cx="615517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Utility Usage Prediction Tool is a Machine Learning-based console application developed using Python.</a:t>
            </a:r>
          </a:p>
          <a:p>
            <a:endParaRPr lang="en-US" dirty="0"/>
          </a:p>
          <a:p>
            <a:r>
              <a:rPr lang="en-US" dirty="0"/>
              <a:t>The system helps users: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Manage utility usage records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Store data using CSV files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Update existing records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Predict utility consumption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Handle invalid inputs efficiently</a:t>
            </a:r>
          </a:p>
          <a:p>
            <a:endParaRPr lang="en-US" dirty="0"/>
          </a:p>
          <a:p>
            <a:r>
              <a:rPr lang="en-US" dirty="0"/>
              <a:t>The project demonstrates practical implementation of Python programming, file handling, and machine learning concepts.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CB1C78-787C-379B-7A80-0F62B24E4B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5217" y="1145940"/>
            <a:ext cx="4311787" cy="3066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621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0"/>
                <a:lumOff val="100000"/>
              </a:schemeClr>
            </a:gs>
            <a:gs pos="35000">
              <a:schemeClr val="accent5">
                <a:lumMod val="0"/>
                <a:lumOff val="100000"/>
              </a:schemeClr>
            </a:gs>
            <a:gs pos="100000">
              <a:schemeClr val="accent5">
                <a:lumMod val="100000"/>
              </a:schemeClr>
            </a:gs>
          </a:gsLst>
          <a:path path="circle">
            <a:fillToRect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1C4C3-03D7-6C8C-C2EF-BB4003280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Problem Statement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BC78CF-E3C5-F480-901E-2D5D1B1EC246}"/>
              </a:ext>
            </a:extLst>
          </p:cNvPr>
          <p:cNvSpPr txBox="1"/>
          <p:nvPr/>
        </p:nvSpPr>
        <p:spPr>
          <a:xfrm>
            <a:off x="517998" y="1997839"/>
            <a:ext cx="609437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Manual management of utility usage records can be time-consuming and error-prone.</a:t>
            </a:r>
          </a:p>
          <a:p>
            <a:endParaRPr lang="en-US" dirty="0"/>
          </a:p>
          <a:p>
            <a:r>
              <a:rPr lang="en-US" dirty="0"/>
              <a:t>Challenges include: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Maintaining accurate records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Tracking usage patterns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Predicting future consumption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Managing large amounts of data efficiently</a:t>
            </a:r>
          </a:p>
          <a:p>
            <a:endParaRPr lang="en-US" dirty="0"/>
          </a:p>
          <a:p>
            <a:r>
              <a:rPr lang="en-US" dirty="0"/>
              <a:t>There is a need for a system that can automate record management and provide intelligent predictions using Machine Learning.</a:t>
            </a:r>
            <a:endParaRPr lang="en-IN" dirty="0"/>
          </a:p>
        </p:txBody>
      </p:sp>
      <p:pic>
        <p:nvPicPr>
          <p:cNvPr id="6" name="Graphic 5" descr="Robot with solid fill">
            <a:extLst>
              <a:ext uri="{FF2B5EF4-FFF2-40B4-BE49-F238E27FC236}">
                <a16:creationId xmlns:a16="http://schemas.microsoft.com/office/drawing/2014/main" id="{8A562C87-3E75-6914-462D-2366166420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96782" y="710120"/>
            <a:ext cx="3407924" cy="3920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194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0"/>
                <a:lumOff val="100000"/>
              </a:schemeClr>
            </a:gs>
            <a:gs pos="35000">
              <a:schemeClr val="accent5">
                <a:lumMod val="0"/>
                <a:lumOff val="100000"/>
              </a:schemeClr>
            </a:gs>
            <a:gs pos="100000">
              <a:schemeClr val="accent5">
                <a:lumMod val="10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F3102-2A18-CAED-83EB-979342DC8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903" y="365125"/>
            <a:ext cx="10903897" cy="1622508"/>
          </a:xfrm>
        </p:spPr>
        <p:txBody>
          <a:bodyPr/>
          <a:lstStyle/>
          <a:p>
            <a:r>
              <a:rPr lang="en-IN" b="1" u="sng" dirty="0"/>
              <a:t>Project 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6919CB-6EB2-D9E1-0794-613356E681EE}"/>
              </a:ext>
            </a:extLst>
          </p:cNvPr>
          <p:cNvSpPr txBox="1"/>
          <p:nvPr/>
        </p:nvSpPr>
        <p:spPr>
          <a:xfrm>
            <a:off x="449903" y="2021680"/>
            <a:ext cx="609437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Develop a menu-driven console application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Implement CSV file handling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Store and manage utility usage records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Train a machine learning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Predict utility consumption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Improve data analysis and decision-making</a:t>
            </a:r>
            <a:endParaRPr lang="en-IN" dirty="0"/>
          </a:p>
        </p:txBody>
      </p:sp>
      <p:pic>
        <p:nvPicPr>
          <p:cNvPr id="6" name="Graphic 5" descr="Head with gears with solid fill">
            <a:extLst>
              <a:ext uri="{FF2B5EF4-FFF2-40B4-BE49-F238E27FC236}">
                <a16:creationId xmlns:a16="http://schemas.microsoft.com/office/drawing/2014/main" id="{252E1E05-7AF8-D870-93F3-DB8CABD737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99633" y="705255"/>
            <a:ext cx="3950036" cy="3944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090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0"/>
                <a:lumOff val="100000"/>
              </a:schemeClr>
            </a:gs>
            <a:gs pos="35000">
              <a:schemeClr val="accent5">
                <a:lumMod val="0"/>
                <a:lumOff val="100000"/>
              </a:schemeClr>
            </a:gs>
            <a:gs pos="100000">
              <a:schemeClr val="accent5">
                <a:lumMod val="100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68FA6-5A31-AC98-39A3-93E6B02A2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Technologies Used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A930166-B223-FD0D-3273-D239BCC37E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0873407"/>
              </p:ext>
            </p:extLst>
          </p:nvPr>
        </p:nvGraphicFramePr>
        <p:xfrm>
          <a:off x="446392" y="1690687"/>
          <a:ext cx="6255966" cy="3931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7983">
                  <a:extLst>
                    <a:ext uri="{9D8B030D-6E8A-4147-A177-3AD203B41FA5}">
                      <a16:colId xmlns:a16="http://schemas.microsoft.com/office/drawing/2014/main" val="3315543718"/>
                    </a:ext>
                  </a:extLst>
                </a:gridCol>
                <a:gridCol w="3127983">
                  <a:extLst>
                    <a:ext uri="{9D8B030D-6E8A-4147-A177-3AD203B41FA5}">
                      <a16:colId xmlns:a16="http://schemas.microsoft.com/office/drawing/2014/main" val="827410924"/>
                    </a:ext>
                  </a:extLst>
                </a:gridCol>
              </a:tblGrid>
              <a:tr h="561700">
                <a:tc>
                  <a:txBody>
                    <a:bodyPr/>
                    <a:lstStyle/>
                    <a:p>
                      <a:r>
                        <a:rPr lang="en-IN" dirty="0"/>
                        <a:t>Technology</a:t>
                      </a:r>
                    </a:p>
                  </a:txBody>
                  <a:tcPr>
                    <a:solidFill>
                      <a:schemeClr val="accent1">
                        <a:alpha val="47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Purpose</a:t>
                      </a:r>
                    </a:p>
                  </a:txBody>
                  <a:tcPr>
                    <a:solidFill>
                      <a:schemeClr val="accent1">
                        <a:alpha val="47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2811612"/>
                  </a:ext>
                </a:extLst>
              </a:tr>
              <a:tr h="561700">
                <a:tc>
                  <a:txBody>
                    <a:bodyPr/>
                    <a:lstStyle/>
                    <a:p>
                      <a:r>
                        <a:rPr lang="en-IN" dirty="0"/>
                        <a:t>Python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47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Core Programming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47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2290708"/>
                  </a:ext>
                </a:extLst>
              </a:tr>
              <a:tr h="561700">
                <a:tc>
                  <a:txBody>
                    <a:bodyPr/>
                    <a:lstStyle/>
                    <a:p>
                      <a:r>
                        <a:rPr lang="en-IN" dirty="0"/>
                        <a:t>Pandas</a:t>
                      </a:r>
                    </a:p>
                  </a:txBody>
                  <a:tcPr>
                    <a:solidFill>
                      <a:schemeClr val="accent1">
                        <a:tint val="20000"/>
                        <a:alpha val="47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Data Processing</a:t>
                      </a:r>
                    </a:p>
                  </a:txBody>
                  <a:tcPr>
                    <a:solidFill>
                      <a:schemeClr val="accent1">
                        <a:tint val="20000"/>
                        <a:alpha val="47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994462"/>
                  </a:ext>
                </a:extLst>
              </a:tr>
              <a:tr h="561700">
                <a:tc>
                  <a:txBody>
                    <a:bodyPr/>
                    <a:lstStyle/>
                    <a:p>
                      <a:r>
                        <a:rPr lang="en-IN" dirty="0"/>
                        <a:t>CSV Files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47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Data Storage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47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9127580"/>
                  </a:ext>
                </a:extLst>
              </a:tr>
              <a:tr h="561700">
                <a:tc>
                  <a:txBody>
                    <a:bodyPr/>
                    <a:lstStyle/>
                    <a:p>
                      <a:r>
                        <a:rPr lang="en-IN" dirty="0"/>
                        <a:t>Scikit-Learn</a:t>
                      </a:r>
                    </a:p>
                  </a:txBody>
                  <a:tcPr>
                    <a:solidFill>
                      <a:schemeClr val="accent1">
                        <a:tint val="20000"/>
                        <a:alpha val="47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Machine Learning</a:t>
                      </a:r>
                    </a:p>
                  </a:txBody>
                  <a:tcPr>
                    <a:solidFill>
                      <a:schemeClr val="accent1">
                        <a:tint val="20000"/>
                        <a:alpha val="47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1234079"/>
                  </a:ext>
                </a:extLst>
              </a:tr>
              <a:tr h="561700">
                <a:tc>
                  <a:txBody>
                    <a:bodyPr/>
                    <a:lstStyle/>
                    <a:p>
                      <a:r>
                        <a:rPr lang="en-IN" dirty="0" err="1"/>
                        <a:t>Joblib</a:t>
                      </a:r>
                      <a:endParaRPr lang="en-IN" dirty="0"/>
                    </a:p>
                  </a:txBody>
                  <a:tcPr>
                    <a:solidFill>
                      <a:schemeClr val="accent1">
                        <a:tint val="40000"/>
                        <a:alpha val="47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Model Saving &amp; Loading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47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4704871"/>
                  </a:ext>
                </a:extLst>
              </a:tr>
              <a:tr h="561700">
                <a:tc>
                  <a:txBody>
                    <a:bodyPr/>
                    <a:lstStyle/>
                    <a:p>
                      <a:r>
                        <a:rPr lang="en-IN" dirty="0"/>
                        <a:t>VS Code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47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Development </a:t>
                      </a:r>
                      <a:r>
                        <a:rPr lang="en-IN" dirty="0" err="1"/>
                        <a:t>Enviroment</a:t>
                      </a:r>
                      <a:endParaRPr lang="en-IN" dirty="0"/>
                    </a:p>
                  </a:txBody>
                  <a:tcPr>
                    <a:solidFill>
                      <a:schemeClr val="accent1">
                        <a:tint val="40000"/>
                        <a:alpha val="47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134572"/>
                  </a:ext>
                </a:extLst>
              </a:tr>
            </a:tbl>
          </a:graphicData>
        </a:graphic>
      </p:graphicFrame>
      <p:pic>
        <p:nvPicPr>
          <p:cNvPr id="7" name="Graphic 6" descr="Internet with solid fill">
            <a:extLst>
              <a:ext uri="{FF2B5EF4-FFF2-40B4-BE49-F238E27FC236}">
                <a16:creationId xmlns:a16="http://schemas.microsoft.com/office/drawing/2014/main" id="{B45ACAB2-6D15-E710-1DF4-5DCD387833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82187" y="4353127"/>
            <a:ext cx="2538919" cy="2538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495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0"/>
                <a:lumOff val="100000"/>
              </a:schemeClr>
            </a:gs>
            <a:gs pos="35000">
              <a:schemeClr val="accent5">
                <a:lumMod val="0"/>
                <a:lumOff val="100000"/>
              </a:schemeClr>
            </a:gs>
            <a:gs pos="100000">
              <a:schemeClr val="accent5">
                <a:lumMod val="100000"/>
              </a:schemeClr>
            </a:gs>
          </a:gsLst>
          <a:path path="circle">
            <a:fillToRect t="100000" r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E876E-A7DE-942D-D07B-501090ECD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Project Structure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0B1BFB-A191-2FFA-E7BD-113B14CF3C5E}"/>
              </a:ext>
            </a:extLst>
          </p:cNvPr>
          <p:cNvSpPr txBox="1"/>
          <p:nvPr/>
        </p:nvSpPr>
        <p:spPr>
          <a:xfrm>
            <a:off x="410994" y="1862130"/>
            <a:ext cx="376217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 err="1"/>
              <a:t>Utility_Usage_Prediction_Tool</a:t>
            </a:r>
            <a:endParaRPr lang="en-IN" b="1" dirty="0"/>
          </a:p>
          <a:p>
            <a:r>
              <a:rPr lang="en-IN" dirty="0"/>
              <a:t>│</a:t>
            </a:r>
          </a:p>
          <a:p>
            <a:r>
              <a:rPr lang="en-IN" dirty="0"/>
              <a:t>├── data</a:t>
            </a:r>
          </a:p>
          <a:p>
            <a:r>
              <a:rPr lang="en-IN" dirty="0"/>
              <a:t>│   └── utility_usage.csv</a:t>
            </a:r>
          </a:p>
          <a:p>
            <a:r>
              <a:rPr lang="en-IN" dirty="0"/>
              <a:t>│</a:t>
            </a:r>
          </a:p>
          <a:p>
            <a:r>
              <a:rPr lang="en-IN" dirty="0"/>
              <a:t>├── models</a:t>
            </a:r>
          </a:p>
          <a:p>
            <a:r>
              <a:rPr lang="en-IN" dirty="0"/>
              <a:t>│   └── </a:t>
            </a:r>
            <a:r>
              <a:rPr lang="en-IN" dirty="0" err="1"/>
              <a:t>utility_model.pkl</a:t>
            </a:r>
            <a:endParaRPr lang="en-IN" dirty="0"/>
          </a:p>
          <a:p>
            <a:r>
              <a:rPr lang="en-IN" dirty="0"/>
              <a:t>│</a:t>
            </a:r>
          </a:p>
          <a:p>
            <a:r>
              <a:rPr lang="en-IN" dirty="0"/>
              <a:t>├── </a:t>
            </a:r>
            <a:r>
              <a:rPr lang="en-IN" dirty="0" err="1"/>
              <a:t>src</a:t>
            </a:r>
            <a:endParaRPr lang="en-IN" dirty="0"/>
          </a:p>
          <a:p>
            <a:r>
              <a:rPr lang="en-IN" dirty="0"/>
              <a:t>│   ├── data_handler.py</a:t>
            </a:r>
          </a:p>
          <a:p>
            <a:r>
              <a:rPr lang="en-IN" dirty="0"/>
              <a:t>│   ├── predictor.py</a:t>
            </a:r>
          </a:p>
          <a:p>
            <a:r>
              <a:rPr lang="en-IN" dirty="0"/>
              <a:t>│   └── train_model.py</a:t>
            </a:r>
          </a:p>
          <a:p>
            <a:r>
              <a:rPr lang="en-IN" dirty="0"/>
              <a:t>│</a:t>
            </a:r>
          </a:p>
          <a:p>
            <a:r>
              <a:rPr lang="en-IN" dirty="0"/>
              <a:t>└── main.py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28DA73-BA68-0D67-8C5A-4F9893008602}"/>
              </a:ext>
            </a:extLst>
          </p:cNvPr>
          <p:cNvSpPr txBox="1"/>
          <p:nvPr/>
        </p:nvSpPr>
        <p:spPr>
          <a:xfrm>
            <a:off x="6096000" y="2347556"/>
            <a:ext cx="609437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Description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main.py → Main application interface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data_handler.py → Manage records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train_model.py → Train ML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predictor.py → Generate predictions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utility_model.pkl</a:t>
            </a:r>
            <a:r>
              <a:rPr lang="en-US" dirty="0"/>
              <a:t> → Saved ML model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209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0"/>
                <a:lumOff val="100000"/>
              </a:schemeClr>
            </a:gs>
            <a:gs pos="35000">
              <a:schemeClr val="accent5">
                <a:lumMod val="0"/>
                <a:lumOff val="100000"/>
              </a:schemeClr>
            </a:gs>
            <a:gs pos="100000">
              <a:schemeClr val="accent5">
                <a:lumMod val="100000"/>
              </a:schemeClr>
            </a:gs>
          </a:gsLst>
          <a:path path="circle">
            <a:fillToRect t="100000" r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18D3D-C2F8-45F7-CB74-8665B4A92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095" y="215555"/>
            <a:ext cx="10515600" cy="1325563"/>
          </a:xfrm>
        </p:spPr>
        <p:txBody>
          <a:bodyPr/>
          <a:lstStyle/>
          <a:p>
            <a:r>
              <a:rPr lang="en-IN" b="1" u="sng" dirty="0"/>
              <a:t>Machine Learning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8B68CE-C5FE-34FA-2315-0EA11F0213D0}"/>
              </a:ext>
            </a:extLst>
          </p:cNvPr>
          <p:cNvSpPr txBox="1"/>
          <p:nvPr/>
        </p:nvSpPr>
        <p:spPr>
          <a:xfrm>
            <a:off x="693095" y="1403816"/>
            <a:ext cx="6094378" cy="5109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Machine Learning Implementation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project uses a trained Linear Regression model to predict utility usage.</a:t>
            </a:r>
          </a:p>
          <a:p>
            <a:endParaRPr lang="en-US" dirty="0"/>
          </a:p>
          <a:p>
            <a:r>
              <a:rPr lang="en-US" dirty="0"/>
              <a:t>Input Parameters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Temperature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Number of Residents</a:t>
            </a:r>
          </a:p>
          <a:p>
            <a:endParaRPr lang="en-US" dirty="0"/>
          </a:p>
          <a:p>
            <a:r>
              <a:rPr lang="en-US" dirty="0"/>
              <a:t>Output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Predicted Utility Usage</a:t>
            </a:r>
          </a:p>
          <a:p>
            <a:endParaRPr lang="en-US" dirty="0"/>
          </a:p>
          <a:p>
            <a:r>
              <a:rPr lang="en-US" dirty="0"/>
              <a:t>Example</a:t>
            </a:r>
          </a:p>
          <a:p>
            <a:r>
              <a:rPr lang="en-US" dirty="0"/>
              <a:t>Temperature: 30°C</a:t>
            </a:r>
          </a:p>
          <a:p>
            <a:r>
              <a:rPr lang="en-US" dirty="0"/>
              <a:t>Residents: 5</a:t>
            </a:r>
          </a:p>
          <a:p>
            <a:endParaRPr lang="en-US" dirty="0"/>
          </a:p>
          <a:p>
            <a:r>
              <a:rPr lang="en-US" dirty="0"/>
              <a:t>Predicted Utility Usage: 275.43 Units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0CB8C3-3C1A-B2F2-FF6E-40C5317653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3347847"/>
            <a:ext cx="5233557" cy="278686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910477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0"/>
                <a:lumOff val="100000"/>
              </a:schemeClr>
            </a:gs>
            <a:gs pos="35000">
              <a:schemeClr val="accent5">
                <a:lumMod val="0"/>
                <a:lumOff val="100000"/>
              </a:schemeClr>
            </a:gs>
            <a:gs pos="100000">
              <a:schemeClr val="accent5">
                <a:lumMod val="100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68E8D-C9A8-10B5-D341-5381C93C6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302" y="289395"/>
            <a:ext cx="10515600" cy="957837"/>
          </a:xfrm>
        </p:spPr>
        <p:txBody>
          <a:bodyPr/>
          <a:lstStyle/>
          <a:p>
            <a:r>
              <a:rPr lang="en-IN" b="1" u="sng" dirty="0"/>
              <a:t>Results &amp; Output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6B90CB-06BA-F34B-F960-044C8E2C89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373" y="1754244"/>
            <a:ext cx="4822000" cy="18144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1620914-94A0-C4EB-DBC0-1408D6AFE9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7102" y="1754244"/>
            <a:ext cx="5595026" cy="181442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FCD8575-82CD-786C-0851-20F0E2761E6E}"/>
              </a:ext>
            </a:extLst>
          </p:cNvPr>
          <p:cNvSpPr txBox="1"/>
          <p:nvPr/>
        </p:nvSpPr>
        <p:spPr>
          <a:xfrm>
            <a:off x="240515" y="3768413"/>
            <a:ext cx="49878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main menu provides a user-friendly interface that allows users to add utility usage records, update existing data, generate predictions, and exit the application. 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D7D7D0-DBC5-91F0-7E01-5E9044175806}"/>
              </a:ext>
            </a:extLst>
          </p:cNvPr>
          <p:cNvSpPr txBox="1"/>
          <p:nvPr/>
        </p:nvSpPr>
        <p:spPr>
          <a:xfrm>
            <a:off x="5747102" y="3768413"/>
            <a:ext cx="609437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machine learning model analyzes the input parameters, such as temperature and number of residents, and generates an estimated utility usage value. This demonstrates the predictive capability of the system.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4E7FA0-0FE3-F2C9-E06C-42F47AACDA28}"/>
              </a:ext>
            </a:extLst>
          </p:cNvPr>
          <p:cNvSpPr txBox="1"/>
          <p:nvPr/>
        </p:nvSpPr>
        <p:spPr>
          <a:xfrm>
            <a:off x="177040" y="5445484"/>
            <a:ext cx="1190471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Result</a:t>
            </a:r>
            <a:r>
              <a:rPr lang="en-US" dirty="0"/>
              <a:t>: The Utility Usage Prediction Tool successfully manages utility usage records, stores data in CSV format, and generates utility consumption predictions using a trained machine learning model. The system operates efficiently through a menu-driven console interface and handles user inputs effectively.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30638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0"/>
                <a:lumOff val="100000"/>
              </a:schemeClr>
            </a:gs>
            <a:gs pos="35000">
              <a:schemeClr val="accent5">
                <a:lumMod val="0"/>
                <a:lumOff val="100000"/>
              </a:schemeClr>
            </a:gs>
            <a:gs pos="100000">
              <a:schemeClr val="accent5">
                <a:lumMod val="100000"/>
              </a:scheme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CA1AE-0D86-891C-6238-6ACF1A7E6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Challenges &amp; Future Scope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AFE590-533A-5223-48E8-FE87C990A5EF}"/>
              </a:ext>
            </a:extLst>
          </p:cNvPr>
          <p:cNvSpPr txBox="1"/>
          <p:nvPr/>
        </p:nvSpPr>
        <p:spPr>
          <a:xfrm>
            <a:off x="838200" y="1690688"/>
            <a:ext cx="609437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Challenges Faced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Understanding Machine Learning workflow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Managing CSV file operations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Handling user inputs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Integrating trained models</a:t>
            </a:r>
          </a:p>
          <a:p>
            <a:endParaRPr lang="en-IN" dirty="0"/>
          </a:p>
          <a:p>
            <a:r>
              <a:rPr lang="en-IN" dirty="0"/>
              <a:t>Future Scope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GUI-based application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Database integration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Web deployment using Flask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Advanced ML algorithms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Real-time utility monitoring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681C47-BC88-3256-50C4-9BEE878676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8893" y="1877438"/>
            <a:ext cx="5207539" cy="4241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414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0"/>
                <a:lumOff val="100000"/>
              </a:schemeClr>
            </a:gs>
            <a:gs pos="35000">
              <a:schemeClr val="accent5">
                <a:lumMod val="0"/>
                <a:lumOff val="100000"/>
              </a:schemeClr>
            </a:gs>
            <a:gs pos="100000">
              <a:schemeClr val="accent5">
                <a:lumMod val="100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4156F-B00B-1704-1C74-A57C0F855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B35AC0-2A8E-810C-757C-075BBCD0A8DE}"/>
              </a:ext>
            </a:extLst>
          </p:cNvPr>
          <p:cNvSpPr txBox="1"/>
          <p:nvPr/>
        </p:nvSpPr>
        <p:spPr>
          <a:xfrm>
            <a:off x="401265" y="1951514"/>
            <a:ext cx="609437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Utility Usage Prediction Tool successfully demonstrates: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Python Programming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CSV File Handling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Machine Learning Integration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Exception Handling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project provides an efficient solution for storing utility records and predicting future utility consumption using historical data.</a:t>
            </a:r>
            <a:endParaRPr lang="en-IN" dirty="0"/>
          </a:p>
        </p:txBody>
      </p:sp>
      <p:pic>
        <p:nvPicPr>
          <p:cNvPr id="8" name="Graphic 7" descr="Handshake with solid fill">
            <a:extLst>
              <a:ext uri="{FF2B5EF4-FFF2-40B4-BE49-F238E27FC236}">
                <a16:creationId xmlns:a16="http://schemas.microsoft.com/office/drawing/2014/main" id="{FB01BFCD-4D0D-0988-F38B-BD8F1E70BF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47572" y="5224658"/>
            <a:ext cx="1467972" cy="1467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490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521</Words>
  <Application>Microsoft Office PowerPoint</Application>
  <PresentationFormat>Widescreen</PresentationFormat>
  <Paragraphs>140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UTILITY USAGE  PREDICTION TOOL</vt:lpstr>
      <vt:lpstr>Introduction</vt:lpstr>
      <vt:lpstr>Problem Statement</vt:lpstr>
      <vt:lpstr>Project Objectives</vt:lpstr>
      <vt:lpstr>Technologies Used</vt:lpstr>
      <vt:lpstr>Project Structure</vt:lpstr>
      <vt:lpstr>Machine Learning Model</vt:lpstr>
      <vt:lpstr>Results &amp; Output</vt:lpstr>
      <vt:lpstr>Challenges &amp; Future Scope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Siddhi Mohite</dc:creator>
  <cp:lastModifiedBy>dnyaneshwar mohite</cp:lastModifiedBy>
  <cp:revision>1</cp:revision>
  <dcterms:created xsi:type="dcterms:W3CDTF">2026-06-06T19:22:50Z</dcterms:created>
  <dcterms:modified xsi:type="dcterms:W3CDTF">2026-06-06T19:23:35Z</dcterms:modified>
</cp:coreProperties>
</file>